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27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0" r:id="rId16"/>
    <p:sldId id="281" r:id="rId17"/>
    <p:sldId id="282" r:id="rId18"/>
    <p:sldId id="283" r:id="rId19"/>
    <p:sldId id="284" r:id="rId20"/>
    <p:sldId id="285" r:id="rId21"/>
    <p:sldId id="277" r:id="rId22"/>
    <p:sldId id="278" r:id="rId23"/>
    <p:sldId id="279" r:id="rId24"/>
  </p:sldIdLst>
  <p:sldSz cx="9144000" cy="5715000" type="screen16x10"/>
  <p:notesSz cx="6858000" cy="9144000"/>
  <p:embeddedFontLst>
    <p:embeddedFont>
      <p:font typeface="배달의민족 도현" panose="020B0600000101010101" pitchFamily="50" charset="-127"/>
      <p:regular r:id="rId27"/>
    </p:embeddedFont>
    <p:embeddedFont>
      <p:font typeface="-윤고딕320" panose="02030504000101010101" pitchFamily="18" charset="-127"/>
      <p:regular r:id="rId28"/>
    </p:embeddedFont>
    <p:embeddedFont>
      <p:font typeface="-윤고딕330" panose="02030504000101010101" pitchFamily="18" charset="-127"/>
      <p:regular r:id="rId29"/>
    </p:embeddedFont>
    <p:embeddedFont>
      <p:font typeface="-윤고딕340" panose="02030504000101010101" pitchFamily="18" charset="-127"/>
      <p:regular r:id="rId30"/>
    </p:embeddedFont>
    <p:embeddedFont>
      <p:font typeface="-윤고딕350" panose="02030504000101010101" pitchFamily="18" charset="-127"/>
      <p:regular r:id="rId31"/>
    </p:embeddedFont>
    <p:embeddedFont>
      <p:font typeface="함초롬돋움" panose="020B0604000101010101" pitchFamily="50" charset="-127"/>
      <p:regular r:id="rId32"/>
      <p:bold r:id="rId33"/>
    </p:embeddedFont>
    <p:embeddedFont>
      <p:font typeface="휴먼둥근헤드라인" panose="02030504000101010101" pitchFamily="18" charset="-127"/>
      <p:regular r:id="rId3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9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8">
          <p15:clr>
            <a:srgbClr val="A4A3A4"/>
          </p15:clr>
        </p15:guide>
        <p15:guide id="2" pos="215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/>
    <p:restoredTop sz="95026" autoAdjust="0"/>
  </p:normalViewPr>
  <p:slideViewPr>
    <p:cSldViewPr snapToObjects="1">
      <p:cViewPr varScale="1">
        <p:scale>
          <a:sx n="98" d="100"/>
          <a:sy n="98" d="100"/>
        </p:scale>
        <p:origin x="1147" y="82"/>
      </p:cViewPr>
      <p:guideLst>
        <p:guide orient="horz" pos="1799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100" d="100"/>
          <a:sy n="100" d="100"/>
        </p:scale>
        <p:origin x="0" y="0"/>
      </p:cViewPr>
      <p:guideLst>
        <p:guide orient="horz" pos="2878"/>
        <p:guide pos="2155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F450E784-2449-4FFD-AA69-3F5CFAA75B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2B2BC9D-A816-4D0A-858B-1D023B3A8ACA}" type="datetime1">
              <a:rPr lang="ko-KR" altLang="en-US"/>
              <a:pPr lvl="0">
                <a:defRPr lang="ko-KR" altLang="en-US"/>
              </a:pPr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09F4262C-968C-4EE9-8164-CE16364706B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 lang="ko-KR" altLang="en-US"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09F4262C-968C-4EE9-8164-CE16364706B3}" type="slidenum">
              <a:rPr lang="en-US" altLang="en-US"/>
              <a:pPr lvl="0">
                <a:defRPr lang="ko-KR" altLang="en-US"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/>
          <a:srcRect l="3920" t="8410" r="3150" b="7520"/>
          <a:stretch>
            <a:fillRect/>
          </a:stretch>
        </p:blipFill>
        <p:spPr>
          <a:xfrm>
            <a:off x="-36576" y="4062158"/>
            <a:ext cx="4248531" cy="1747710"/>
          </a:xfrm>
          <a:prstGeom prst="rect">
            <a:avLst/>
          </a:prstGeom>
        </p:spPr>
      </p:pic>
      <p:sp>
        <p:nvSpPr>
          <p:cNvPr id="18" name="이중 물결 17"/>
          <p:cNvSpPr/>
          <p:nvPr userDrawn="1"/>
        </p:nvSpPr>
        <p:spPr>
          <a:xfrm rot="19897818">
            <a:off x="-760196" y="-677165"/>
            <a:ext cx="4118353" cy="1800225"/>
          </a:xfrm>
          <a:prstGeom prst="doubleWave">
            <a:avLst>
              <a:gd name="adj1" fmla="val 6250"/>
              <a:gd name="adj2" fmla="val -1329"/>
            </a:avLst>
          </a:prstGeom>
          <a:solidFill>
            <a:srgbClr val="26A0E6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9" name="이중 물결 18"/>
          <p:cNvSpPr/>
          <p:nvPr userDrawn="1"/>
        </p:nvSpPr>
        <p:spPr>
          <a:xfrm rot="19897818">
            <a:off x="6502403" y="4814887"/>
            <a:ext cx="3926439" cy="1800225"/>
          </a:xfrm>
          <a:prstGeom prst="doubleWave">
            <a:avLst>
              <a:gd name="adj1" fmla="val 6250"/>
              <a:gd name="adj2" fmla="val -1329"/>
            </a:avLst>
          </a:prstGeom>
          <a:solidFill>
            <a:schemeClr val="bg2">
              <a:lumMod val="20000"/>
              <a:lumOff val="80000"/>
            </a:scheme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1" y="0"/>
            <a:ext cx="9143999" cy="5733289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구역 머리글" preserve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4"/>
          <p:cNvSpPr/>
          <p:nvPr userDrawn="1"/>
        </p:nvSpPr>
        <p:spPr>
          <a:xfrm rot="18480000">
            <a:off x="1548000" y="1976400"/>
            <a:ext cx="1414800" cy="1353600"/>
          </a:xfrm>
          <a:prstGeom prst="roundRect">
            <a:avLst>
              <a:gd name="adj" fmla="val 16667"/>
            </a:avLst>
          </a:prstGeom>
          <a:solidFill>
            <a:srgbClr val="26A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>
              <a:solidFill>
                <a:srgbClr val="F2620F"/>
              </a:solidFill>
            </a:endParaRPr>
          </a:p>
        </p:txBody>
      </p:sp>
      <p:sp>
        <p:nvSpPr>
          <p:cNvPr id="18" name="사각형: 둥근 모서리 5"/>
          <p:cNvSpPr/>
          <p:nvPr userDrawn="1"/>
        </p:nvSpPr>
        <p:spPr>
          <a:xfrm rot="17778217">
            <a:off x="1795712" y="2189778"/>
            <a:ext cx="1097485" cy="1167176"/>
          </a:xfrm>
          <a:prstGeom prst="roundRect">
            <a:avLst>
              <a:gd name="adj" fmla="val 16667"/>
            </a:avLst>
          </a:prstGeom>
          <a:noFill/>
          <a:ln algn="ctr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9" name="TextBox 6"/>
          <p:cNvSpPr txBox="1"/>
          <p:nvPr userDrawn="1"/>
        </p:nvSpPr>
        <p:spPr>
          <a:xfrm>
            <a:off x="1907666" y="2392989"/>
            <a:ext cx="1056817" cy="82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en-US" altLang="ko-KR" sz="4800">
                <a:solidFill>
                  <a:schemeClr val="bg1">
                    <a:lumMod val="95000"/>
                  </a:schemeClr>
                </a:solidFill>
                <a:latin typeface="-윤고딕350"/>
                <a:ea typeface="-윤고딕350"/>
              </a:rPr>
              <a:t>01</a:t>
            </a:r>
          </a:p>
        </p:txBody>
      </p:sp>
      <p:sp>
        <p:nvSpPr>
          <p:cNvPr id="20" name="TextBox 7"/>
          <p:cNvSpPr txBox="1"/>
          <p:nvPr userDrawn="1"/>
        </p:nvSpPr>
        <p:spPr>
          <a:xfrm>
            <a:off x="2257723" y="2447610"/>
            <a:ext cx="6274774" cy="81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4800">
                <a:solidFill>
                  <a:schemeClr val="tx1">
                    <a:lumMod val="75000"/>
                    <a:lumOff val="25000"/>
                  </a:schemeClr>
                </a:solidFill>
                <a:latin typeface="배달의민족 도현"/>
                <a:ea typeface="배달의민족 도현"/>
              </a:rPr>
              <a:t>JJmoa </a:t>
            </a:r>
            <a:r>
              <a:rPr lang="ko-KR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배달의민족 도현"/>
                <a:ea typeface="배달의민족 도현"/>
              </a:rPr>
              <a:t>소개</a:t>
            </a:r>
          </a:p>
        </p:txBody>
      </p:sp>
      <p:sp>
        <p:nvSpPr>
          <p:cNvPr id="21" name="직사각형 16"/>
          <p:cNvSpPr>
            <a:spLocks noChangeArrowheads="1"/>
          </p:cNvSpPr>
          <p:nvPr userDrawn="1"/>
        </p:nvSpPr>
        <p:spPr>
          <a:xfrm>
            <a:off x="3696461" y="2201106"/>
            <a:ext cx="4403980" cy="303969"/>
          </a:xfrm>
          <a:prstGeom prst="rect">
            <a:avLst/>
          </a:prstGeom>
          <a:noFill/>
          <a:ln w="3175" algn="ctr">
            <a:noFill/>
            <a:miter/>
          </a:ln>
          <a:effectLst/>
        </p:spPr>
        <p:txBody>
          <a:bodyPr wrap="square" lIns="0" tIns="0" rIns="0" bIns="0">
            <a:spAutoFit/>
          </a:bodyPr>
          <a:lstStyle/>
          <a:p>
            <a:pPr indent="-180975"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defRPr lang="en-US"/>
            </a:pPr>
            <a:r>
              <a:rPr lang="en-US" altLang="ko-KR" sz="2000">
                <a:ln w="9525"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-윤고딕350"/>
                <a:ea typeface="-윤고딕350"/>
                <a:cs typeface="Arial"/>
              </a:rPr>
              <a:t>Japan Job moa </a:t>
            </a:r>
            <a:r>
              <a:rPr lang="ko-KR" altLang="en-US" sz="2000">
                <a:ln w="9525"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-윤고딕350"/>
                <a:ea typeface="-윤고딕350"/>
                <a:cs typeface="Arial"/>
              </a:rPr>
              <a:t>프로젝트 소개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 화면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 userDrawn="1"/>
        </p:nvSpPr>
        <p:spPr>
          <a:xfrm>
            <a:off x="179450" y="3865626"/>
            <a:ext cx="8713089" cy="172821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r>
              <a:rPr lang="en-US" altLang="ko-KR"/>
              <a:t>cv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0" y="144017"/>
            <a:ext cx="9144000" cy="1705355"/>
          </a:xfrm>
          <a:prstGeom prst="rect">
            <a:avLst/>
          </a:prstGeom>
          <a:solidFill>
            <a:srgbClr val="C2E5F2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1" name="사각형: 둥근 위쪽 모서리 10"/>
          <p:cNvSpPr/>
          <p:nvPr userDrawn="1"/>
        </p:nvSpPr>
        <p:spPr>
          <a:xfrm>
            <a:off x="2627756" y="144018"/>
            <a:ext cx="2232279" cy="841247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9ED9EC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7" name="직사각형 6"/>
          <p:cNvSpPr/>
          <p:nvPr userDrawn="1"/>
        </p:nvSpPr>
        <p:spPr>
          <a:xfrm>
            <a:off x="179450" y="564641"/>
            <a:ext cx="8713090" cy="4021074"/>
          </a:xfrm>
          <a:prstGeom prst="rect">
            <a:avLst/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9" name="사각형: 둥근 위쪽 모서리 8"/>
          <p:cNvSpPr/>
          <p:nvPr userDrawn="1"/>
        </p:nvSpPr>
        <p:spPr>
          <a:xfrm>
            <a:off x="467486" y="144018"/>
            <a:ext cx="2160270" cy="841247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2" name="TextBox 11"/>
          <p:cNvSpPr txBox="1"/>
          <p:nvPr userDrawn="1"/>
        </p:nvSpPr>
        <p:spPr>
          <a:xfrm>
            <a:off x="2699766" y="121157"/>
            <a:ext cx="792099" cy="423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200">
                <a:solidFill>
                  <a:schemeClr val="bg1"/>
                </a:solidFill>
                <a:latin typeface="휴먼둥근헤드라인"/>
                <a:ea typeface="휴먼둥근헤드라인"/>
              </a:rPr>
              <a:t>+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55523" y="193166"/>
            <a:ext cx="4248534" cy="338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1600">
                <a:latin typeface="-윤고딕340"/>
                <a:ea typeface="-윤고딕340"/>
              </a:rPr>
              <a:t>1. JJmoa </a:t>
            </a:r>
            <a:r>
              <a:rPr lang="ko-KR" altLang="en-US" sz="1600">
                <a:latin typeface="-윤고딕340"/>
                <a:ea typeface="-윤고딕340"/>
              </a:rPr>
              <a:t>소개</a:t>
            </a:r>
          </a:p>
        </p:txBody>
      </p:sp>
      <p:sp>
        <p:nvSpPr>
          <p:cNvPr id="17" name="사각형: 둥근 모서리 16"/>
          <p:cNvSpPr/>
          <p:nvPr userDrawn="1"/>
        </p:nvSpPr>
        <p:spPr>
          <a:xfrm>
            <a:off x="1619630" y="697229"/>
            <a:ext cx="7128891" cy="432054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1732427" y="805455"/>
            <a:ext cx="247248" cy="247248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766359" y="778796"/>
            <a:ext cx="277200" cy="2772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 flipH="1">
            <a:off x="333035" y="778804"/>
            <a:ext cx="278470" cy="27847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1187576" y="780074"/>
            <a:ext cx="277200" cy="2772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_구역 머리글" preserve="1">
  <p:cSld name="1_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4"/>
          <p:cNvSpPr/>
          <p:nvPr userDrawn="1"/>
        </p:nvSpPr>
        <p:spPr>
          <a:xfrm rot="18480000">
            <a:off x="1548000" y="1976400"/>
            <a:ext cx="1414800" cy="1353600"/>
          </a:xfrm>
          <a:prstGeom prst="roundRect">
            <a:avLst>
              <a:gd name="adj" fmla="val 16667"/>
            </a:avLst>
          </a:prstGeom>
          <a:solidFill>
            <a:srgbClr val="26A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>
              <a:solidFill>
                <a:srgbClr val="F2620F"/>
              </a:solidFill>
            </a:endParaRPr>
          </a:p>
        </p:txBody>
      </p:sp>
      <p:sp>
        <p:nvSpPr>
          <p:cNvPr id="18" name="사각형: 둥근 모서리 5"/>
          <p:cNvSpPr/>
          <p:nvPr userDrawn="1"/>
        </p:nvSpPr>
        <p:spPr>
          <a:xfrm rot="17778217">
            <a:off x="1795712" y="2189778"/>
            <a:ext cx="1097485" cy="1167176"/>
          </a:xfrm>
          <a:prstGeom prst="roundRect">
            <a:avLst>
              <a:gd name="adj" fmla="val 16667"/>
            </a:avLst>
          </a:prstGeom>
          <a:noFill/>
          <a:ln algn="ctr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9" name="TextBox 6"/>
          <p:cNvSpPr txBox="1"/>
          <p:nvPr userDrawn="1"/>
        </p:nvSpPr>
        <p:spPr>
          <a:xfrm>
            <a:off x="1907666" y="2392989"/>
            <a:ext cx="1056817" cy="82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en-US" altLang="ko-KR" sz="4800">
                <a:solidFill>
                  <a:schemeClr val="bg1">
                    <a:lumMod val="95000"/>
                  </a:schemeClr>
                </a:solidFill>
                <a:latin typeface="-윤고딕350"/>
                <a:ea typeface="-윤고딕350"/>
              </a:rPr>
              <a:t>02</a:t>
            </a:r>
          </a:p>
        </p:txBody>
      </p:sp>
      <p:sp>
        <p:nvSpPr>
          <p:cNvPr id="20" name="TextBox 7"/>
          <p:cNvSpPr txBox="1"/>
          <p:nvPr userDrawn="1"/>
        </p:nvSpPr>
        <p:spPr>
          <a:xfrm>
            <a:off x="2257723" y="2447610"/>
            <a:ext cx="6274774" cy="81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배달의민족 도현"/>
                <a:ea typeface="배달의민족 도현"/>
              </a:rPr>
              <a:t>프로젝트 개요</a:t>
            </a:r>
          </a:p>
        </p:txBody>
      </p:sp>
      <p:sp>
        <p:nvSpPr>
          <p:cNvPr id="21" name="직사각형 16"/>
          <p:cNvSpPr>
            <a:spLocks noChangeArrowheads="1"/>
          </p:cNvSpPr>
          <p:nvPr userDrawn="1"/>
        </p:nvSpPr>
        <p:spPr>
          <a:xfrm>
            <a:off x="3419856" y="2201106"/>
            <a:ext cx="4403980" cy="303969"/>
          </a:xfrm>
          <a:prstGeom prst="rect">
            <a:avLst/>
          </a:prstGeom>
          <a:noFill/>
          <a:ln w="3175" algn="ctr">
            <a:noFill/>
            <a:miter/>
          </a:ln>
          <a:effectLst/>
        </p:spPr>
        <p:txBody>
          <a:bodyPr wrap="square" lIns="0" tIns="0" rIns="0" bIns="0">
            <a:spAutoFit/>
          </a:bodyPr>
          <a:lstStyle/>
          <a:p>
            <a:pPr indent="-180975"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defRPr lang="en-US"/>
            </a:pPr>
            <a:r>
              <a:rPr lang="en-US" altLang="ko-KR" sz="2000">
                <a:ln w="9525"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-윤고딕350"/>
                <a:ea typeface="-윤고딕350"/>
                <a:cs typeface="Arial"/>
              </a:rPr>
              <a:t>Japan Job moa </a:t>
            </a:r>
            <a:r>
              <a:rPr lang="ko-KR" altLang="en-US" sz="2000">
                <a:ln w="9525"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-윤고딕350"/>
                <a:ea typeface="-윤고딕350"/>
                <a:cs typeface="Arial"/>
              </a:rPr>
              <a:t>프로젝트 진행 개요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 userDrawn="1"/>
        </p:nvSpPr>
        <p:spPr>
          <a:xfrm>
            <a:off x="179450" y="3865626"/>
            <a:ext cx="8713089" cy="172821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r>
              <a:rPr lang="en-US" altLang="ko-KR"/>
              <a:t>cv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0" y="144017"/>
            <a:ext cx="9144000" cy="1705355"/>
          </a:xfrm>
          <a:prstGeom prst="rect">
            <a:avLst/>
          </a:prstGeom>
          <a:solidFill>
            <a:srgbClr val="C2E5F2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1" name="사각형: 둥근 위쪽 모서리 10"/>
          <p:cNvSpPr/>
          <p:nvPr userDrawn="1"/>
        </p:nvSpPr>
        <p:spPr>
          <a:xfrm>
            <a:off x="4139946" y="144018"/>
            <a:ext cx="2232279" cy="841247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9ED9EC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7" name="직사각형 6"/>
          <p:cNvSpPr/>
          <p:nvPr userDrawn="1"/>
        </p:nvSpPr>
        <p:spPr>
          <a:xfrm>
            <a:off x="179450" y="564641"/>
            <a:ext cx="8713090" cy="4021074"/>
          </a:xfrm>
          <a:prstGeom prst="rect">
            <a:avLst/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9" name="사각형: 둥근 위쪽 모서리 8"/>
          <p:cNvSpPr/>
          <p:nvPr userDrawn="1"/>
        </p:nvSpPr>
        <p:spPr>
          <a:xfrm>
            <a:off x="1979676" y="144018"/>
            <a:ext cx="2160270" cy="841247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>
              <a:latin typeface="-윤고딕340"/>
              <a:ea typeface="-윤고딕34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211956" y="121157"/>
            <a:ext cx="792099" cy="423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200">
                <a:solidFill>
                  <a:schemeClr val="bg1"/>
                </a:solidFill>
                <a:latin typeface="휴먼둥근헤드라인"/>
                <a:ea typeface="휴먼둥근헤드라인"/>
              </a:rPr>
              <a:t>+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2267709" y="193166"/>
            <a:ext cx="1728219" cy="338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600">
                <a:latin typeface="-윤고딕340"/>
                <a:ea typeface="-윤고딕340"/>
              </a:rPr>
              <a:t>2</a:t>
            </a:r>
            <a:r>
              <a:rPr lang="en-US" altLang="ko-KR" sz="1600">
                <a:latin typeface="-윤고딕340"/>
                <a:ea typeface="-윤고딕340"/>
              </a:rPr>
              <a:t>.</a:t>
            </a:r>
            <a:r>
              <a:rPr lang="ko-KR" altLang="en-US" sz="1600">
                <a:latin typeface="-윤고딕340"/>
                <a:ea typeface="-윤고딕340"/>
              </a:rPr>
              <a:t> 프로젝트 개요</a:t>
            </a:r>
            <a:r>
              <a:rPr lang="en-US" altLang="ko-KR" sz="1600">
                <a:latin typeface="-윤고딕340"/>
                <a:ea typeface="-윤고딕340"/>
              </a:rPr>
              <a:t> </a:t>
            </a:r>
          </a:p>
        </p:txBody>
      </p:sp>
      <p:sp>
        <p:nvSpPr>
          <p:cNvPr id="17" name="사각형: 둥근 모서리 16"/>
          <p:cNvSpPr/>
          <p:nvPr userDrawn="1"/>
        </p:nvSpPr>
        <p:spPr>
          <a:xfrm>
            <a:off x="1619630" y="697229"/>
            <a:ext cx="7128891" cy="432054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1732427" y="805455"/>
            <a:ext cx="247248" cy="247248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766359" y="778796"/>
            <a:ext cx="277200" cy="2772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 flipH="1">
            <a:off x="333035" y="778804"/>
            <a:ext cx="278470" cy="27847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1187576" y="780074"/>
            <a:ext cx="277200" cy="2772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_1_구역 머리글" preserve="1">
  <p:cSld name="1_1_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4"/>
          <p:cNvSpPr/>
          <p:nvPr userDrawn="1"/>
        </p:nvSpPr>
        <p:spPr>
          <a:xfrm rot="18480000">
            <a:off x="1548000" y="1976400"/>
            <a:ext cx="1414800" cy="1353600"/>
          </a:xfrm>
          <a:prstGeom prst="roundRect">
            <a:avLst>
              <a:gd name="adj" fmla="val 16667"/>
            </a:avLst>
          </a:prstGeom>
          <a:solidFill>
            <a:srgbClr val="26A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>
              <a:solidFill>
                <a:srgbClr val="F2620F"/>
              </a:solidFill>
            </a:endParaRPr>
          </a:p>
        </p:txBody>
      </p:sp>
      <p:sp>
        <p:nvSpPr>
          <p:cNvPr id="18" name="사각형: 둥근 모서리 5"/>
          <p:cNvSpPr/>
          <p:nvPr userDrawn="1"/>
        </p:nvSpPr>
        <p:spPr>
          <a:xfrm rot="17778217">
            <a:off x="1795712" y="2189778"/>
            <a:ext cx="1097485" cy="1167176"/>
          </a:xfrm>
          <a:prstGeom prst="roundRect">
            <a:avLst>
              <a:gd name="adj" fmla="val 16667"/>
            </a:avLst>
          </a:prstGeom>
          <a:noFill/>
          <a:ln algn="ctr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9" name="TextBox 6"/>
          <p:cNvSpPr txBox="1"/>
          <p:nvPr userDrawn="1"/>
        </p:nvSpPr>
        <p:spPr>
          <a:xfrm>
            <a:off x="1907666" y="2392989"/>
            <a:ext cx="1056817" cy="82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en-US" altLang="ko-KR" sz="4800">
                <a:solidFill>
                  <a:schemeClr val="bg1">
                    <a:lumMod val="95000"/>
                  </a:schemeClr>
                </a:solidFill>
                <a:latin typeface="-윤고딕350"/>
                <a:ea typeface="-윤고딕350"/>
              </a:rPr>
              <a:t>0</a:t>
            </a:r>
            <a:r>
              <a:rPr lang="ko-KR" altLang="en-US" sz="4800">
                <a:solidFill>
                  <a:schemeClr val="bg1">
                    <a:lumMod val="95000"/>
                  </a:schemeClr>
                </a:solidFill>
                <a:latin typeface="-윤고딕350"/>
                <a:ea typeface="-윤고딕350"/>
              </a:rPr>
              <a:t>3</a:t>
            </a:r>
          </a:p>
        </p:txBody>
      </p:sp>
      <p:sp>
        <p:nvSpPr>
          <p:cNvPr id="20" name="TextBox 7"/>
          <p:cNvSpPr txBox="1"/>
          <p:nvPr userDrawn="1"/>
        </p:nvSpPr>
        <p:spPr>
          <a:xfrm>
            <a:off x="2257723" y="2447610"/>
            <a:ext cx="6274774" cy="81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배달의민족 도현"/>
                <a:ea typeface="배달의민족 도현"/>
              </a:rPr>
              <a:t>개발 과정</a:t>
            </a:r>
          </a:p>
        </p:txBody>
      </p:sp>
      <p:sp>
        <p:nvSpPr>
          <p:cNvPr id="21" name="직사각형 16"/>
          <p:cNvSpPr>
            <a:spLocks noChangeArrowheads="1"/>
          </p:cNvSpPr>
          <p:nvPr userDrawn="1"/>
        </p:nvSpPr>
        <p:spPr>
          <a:xfrm>
            <a:off x="3419856" y="2201106"/>
            <a:ext cx="4403980" cy="303969"/>
          </a:xfrm>
          <a:prstGeom prst="rect">
            <a:avLst/>
          </a:prstGeom>
          <a:noFill/>
          <a:ln w="3175" algn="ctr">
            <a:noFill/>
            <a:miter/>
          </a:ln>
          <a:effectLst/>
        </p:spPr>
        <p:txBody>
          <a:bodyPr wrap="square" lIns="0" tIns="0" rIns="0" bIns="0">
            <a:spAutoFit/>
          </a:bodyPr>
          <a:lstStyle/>
          <a:p>
            <a:pPr indent="-180975"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defRPr lang="en-US"/>
            </a:pPr>
            <a:r>
              <a:rPr lang="en-US" altLang="ko-KR" sz="2000">
                <a:ln w="9525"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-윤고딕350"/>
                <a:ea typeface="-윤고딕350"/>
                <a:cs typeface="Arial"/>
              </a:rPr>
              <a:t>Japan Job moa </a:t>
            </a:r>
            <a:r>
              <a:rPr lang="ko-KR" altLang="en-US" sz="2000">
                <a:ln w="9525"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-윤고딕350"/>
                <a:ea typeface="-윤고딕350"/>
                <a:cs typeface="Arial"/>
              </a:rPr>
              <a:t>프로젝트 개발과정</a:t>
            </a: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빈 화면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 userDrawn="1"/>
        </p:nvSpPr>
        <p:spPr>
          <a:xfrm>
            <a:off x="179450" y="3865626"/>
            <a:ext cx="8713089" cy="172821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r>
              <a:rPr lang="en-US" altLang="ko-KR"/>
              <a:t>cv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0" y="144017"/>
            <a:ext cx="9144000" cy="1705355"/>
          </a:xfrm>
          <a:prstGeom prst="rect">
            <a:avLst/>
          </a:prstGeom>
          <a:solidFill>
            <a:srgbClr val="C2E5F2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1" name="사각형: 둥근 위쪽 모서리 10"/>
          <p:cNvSpPr/>
          <p:nvPr userDrawn="1"/>
        </p:nvSpPr>
        <p:spPr>
          <a:xfrm>
            <a:off x="5724144" y="144018"/>
            <a:ext cx="2232279" cy="841247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9ED9EC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7" name="직사각형 6"/>
          <p:cNvSpPr/>
          <p:nvPr userDrawn="1"/>
        </p:nvSpPr>
        <p:spPr>
          <a:xfrm>
            <a:off x="179450" y="564641"/>
            <a:ext cx="8713090" cy="4021074"/>
          </a:xfrm>
          <a:prstGeom prst="rect">
            <a:avLst/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9" name="사각형: 둥근 위쪽 모서리 8"/>
          <p:cNvSpPr/>
          <p:nvPr userDrawn="1"/>
        </p:nvSpPr>
        <p:spPr>
          <a:xfrm>
            <a:off x="3563874" y="144018"/>
            <a:ext cx="2160270" cy="841247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>
              <a:latin typeface="-윤고딕340"/>
              <a:ea typeface="-윤고딕34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5796154" y="121157"/>
            <a:ext cx="792099" cy="423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200">
                <a:solidFill>
                  <a:schemeClr val="bg1"/>
                </a:solidFill>
                <a:latin typeface="휴먼둥근헤드라인"/>
                <a:ea typeface="휴먼둥근헤드라인"/>
              </a:rPr>
              <a:t>+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3995928" y="193166"/>
            <a:ext cx="1728219" cy="338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600">
                <a:latin typeface="-윤고딕340"/>
                <a:ea typeface="-윤고딕340"/>
              </a:rPr>
              <a:t>3</a:t>
            </a:r>
            <a:r>
              <a:rPr lang="en-US" altLang="ko-KR" sz="1600">
                <a:latin typeface="-윤고딕340"/>
                <a:ea typeface="-윤고딕340"/>
              </a:rPr>
              <a:t>.</a:t>
            </a:r>
            <a:r>
              <a:rPr lang="ko-KR" altLang="en-US" sz="1600">
                <a:latin typeface="-윤고딕340"/>
                <a:ea typeface="-윤고딕340"/>
              </a:rPr>
              <a:t> 개발 과정</a:t>
            </a:r>
            <a:r>
              <a:rPr lang="en-US" altLang="ko-KR" sz="1600">
                <a:latin typeface="-윤고딕340"/>
                <a:ea typeface="-윤고딕340"/>
              </a:rPr>
              <a:t> </a:t>
            </a:r>
          </a:p>
        </p:txBody>
      </p:sp>
      <p:sp>
        <p:nvSpPr>
          <p:cNvPr id="17" name="사각형: 둥근 모서리 16"/>
          <p:cNvSpPr/>
          <p:nvPr userDrawn="1"/>
        </p:nvSpPr>
        <p:spPr>
          <a:xfrm>
            <a:off x="1619630" y="697229"/>
            <a:ext cx="7128891" cy="432054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1732427" y="805455"/>
            <a:ext cx="247248" cy="247248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766359" y="778796"/>
            <a:ext cx="277200" cy="2772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 flipH="1">
            <a:off x="333035" y="778804"/>
            <a:ext cx="278470" cy="27847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1187576" y="780074"/>
            <a:ext cx="277200" cy="2772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_1_1_구역 머리글" preserve="1">
  <p:cSld name="1_1_1_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4"/>
          <p:cNvSpPr/>
          <p:nvPr userDrawn="1"/>
        </p:nvSpPr>
        <p:spPr>
          <a:xfrm rot="18480000">
            <a:off x="1548000" y="1976400"/>
            <a:ext cx="1414800" cy="1353600"/>
          </a:xfrm>
          <a:prstGeom prst="roundRect">
            <a:avLst>
              <a:gd name="adj" fmla="val 16667"/>
            </a:avLst>
          </a:prstGeom>
          <a:solidFill>
            <a:srgbClr val="26A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>
              <a:solidFill>
                <a:srgbClr val="F2620F"/>
              </a:solidFill>
            </a:endParaRPr>
          </a:p>
        </p:txBody>
      </p:sp>
      <p:sp>
        <p:nvSpPr>
          <p:cNvPr id="18" name="사각형: 둥근 모서리 5"/>
          <p:cNvSpPr/>
          <p:nvPr userDrawn="1"/>
        </p:nvSpPr>
        <p:spPr>
          <a:xfrm rot="17778217">
            <a:off x="1795712" y="2189778"/>
            <a:ext cx="1097485" cy="1167176"/>
          </a:xfrm>
          <a:prstGeom prst="roundRect">
            <a:avLst>
              <a:gd name="adj" fmla="val 16667"/>
            </a:avLst>
          </a:prstGeom>
          <a:noFill/>
          <a:ln algn="ctr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9" name="TextBox 6"/>
          <p:cNvSpPr txBox="1"/>
          <p:nvPr userDrawn="1"/>
        </p:nvSpPr>
        <p:spPr>
          <a:xfrm>
            <a:off x="1907666" y="2392989"/>
            <a:ext cx="1056817" cy="82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en-US" altLang="ko-KR" sz="4800">
                <a:solidFill>
                  <a:schemeClr val="bg1">
                    <a:lumMod val="95000"/>
                  </a:schemeClr>
                </a:solidFill>
                <a:latin typeface="-윤고딕350"/>
                <a:ea typeface="-윤고딕350"/>
              </a:rPr>
              <a:t>0</a:t>
            </a:r>
            <a:r>
              <a:rPr lang="ko-KR" altLang="en-US" sz="4800">
                <a:solidFill>
                  <a:schemeClr val="bg1">
                    <a:lumMod val="95000"/>
                  </a:schemeClr>
                </a:solidFill>
                <a:latin typeface="-윤고딕350"/>
                <a:ea typeface="-윤고딕350"/>
              </a:rPr>
              <a:t>4</a:t>
            </a:r>
          </a:p>
        </p:txBody>
      </p:sp>
      <p:sp>
        <p:nvSpPr>
          <p:cNvPr id="20" name="TextBox 7"/>
          <p:cNvSpPr txBox="1"/>
          <p:nvPr userDrawn="1"/>
        </p:nvSpPr>
        <p:spPr>
          <a:xfrm>
            <a:off x="2545757" y="2464689"/>
            <a:ext cx="6274774" cy="82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배달의민족 도현"/>
                <a:ea typeface="배달의민족 도현"/>
              </a:rPr>
              <a:t>개선사항 및 느낀점</a:t>
            </a:r>
          </a:p>
        </p:txBody>
      </p:sp>
      <p:sp>
        <p:nvSpPr>
          <p:cNvPr id="21" name="직사각형 16"/>
          <p:cNvSpPr>
            <a:spLocks noChangeArrowheads="1"/>
          </p:cNvSpPr>
          <p:nvPr userDrawn="1"/>
        </p:nvSpPr>
        <p:spPr>
          <a:xfrm>
            <a:off x="3696461" y="2201106"/>
            <a:ext cx="4403980" cy="303969"/>
          </a:xfrm>
          <a:prstGeom prst="rect">
            <a:avLst/>
          </a:prstGeom>
          <a:noFill/>
          <a:ln w="3175" algn="ctr">
            <a:noFill/>
            <a:miter/>
          </a:ln>
          <a:effectLst/>
        </p:spPr>
        <p:txBody>
          <a:bodyPr wrap="square" lIns="0" tIns="0" rIns="0" bIns="0">
            <a:spAutoFit/>
          </a:bodyPr>
          <a:lstStyle/>
          <a:p>
            <a:pPr indent="-180975"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defRPr lang="en-US"/>
            </a:pPr>
            <a:r>
              <a:rPr lang="en-US" altLang="ko-KR" sz="2000">
                <a:ln w="9525"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-윤고딕350"/>
                <a:ea typeface="-윤고딕350"/>
                <a:cs typeface="Arial"/>
              </a:rPr>
              <a:t>Japan Job moa </a:t>
            </a:r>
            <a:r>
              <a:rPr lang="ko-KR" altLang="en-US" sz="2000">
                <a:ln w="9525"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-윤고딕350"/>
                <a:ea typeface="-윤고딕350"/>
                <a:cs typeface="Arial"/>
              </a:rPr>
              <a:t>프로젝트 개선사항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_빈 화면" type="blank" preserve="1">
  <p:cSld name="1_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 userDrawn="1"/>
        </p:nvSpPr>
        <p:spPr>
          <a:xfrm>
            <a:off x="179450" y="3865626"/>
            <a:ext cx="8713089" cy="172821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r>
              <a:rPr lang="en-US" altLang="ko-KR"/>
              <a:t>cv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0" y="144017"/>
            <a:ext cx="9144000" cy="1705355"/>
          </a:xfrm>
          <a:prstGeom prst="rect">
            <a:avLst/>
          </a:prstGeom>
          <a:solidFill>
            <a:srgbClr val="C2E5F2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7" name="직사각형 6"/>
          <p:cNvSpPr/>
          <p:nvPr userDrawn="1"/>
        </p:nvSpPr>
        <p:spPr>
          <a:xfrm>
            <a:off x="179450" y="564641"/>
            <a:ext cx="8713090" cy="4021074"/>
          </a:xfrm>
          <a:prstGeom prst="rect">
            <a:avLst/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9" name="사각형: 둥근 위쪽 모서리 8"/>
          <p:cNvSpPr/>
          <p:nvPr userDrawn="1"/>
        </p:nvSpPr>
        <p:spPr>
          <a:xfrm>
            <a:off x="6588252" y="144018"/>
            <a:ext cx="2160270" cy="841247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en-US" altLang="ko-KR">
              <a:latin typeface="-윤고딕340"/>
              <a:ea typeface="-윤고딕34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6660261" y="193166"/>
            <a:ext cx="2447163" cy="338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600">
                <a:latin typeface="-윤고딕340"/>
                <a:ea typeface="-윤고딕340"/>
              </a:rPr>
              <a:t>4. </a:t>
            </a:r>
            <a:r>
              <a:rPr lang="ko-KR" altLang="en-US" sz="1500">
                <a:latin typeface="-윤고딕340"/>
                <a:ea typeface="-윤고딕340"/>
              </a:rPr>
              <a:t>개선 사항 및 느낀점</a:t>
            </a:r>
          </a:p>
        </p:txBody>
      </p:sp>
      <p:sp>
        <p:nvSpPr>
          <p:cNvPr id="17" name="사각형: 둥근 모서리 16"/>
          <p:cNvSpPr/>
          <p:nvPr userDrawn="1"/>
        </p:nvSpPr>
        <p:spPr>
          <a:xfrm>
            <a:off x="1619630" y="697229"/>
            <a:ext cx="7128891" cy="432054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1732427" y="805455"/>
            <a:ext cx="247248" cy="247248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766359" y="778796"/>
            <a:ext cx="277200" cy="2772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 flipH="1">
            <a:off x="333035" y="778804"/>
            <a:ext cx="278470" cy="27847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1187576" y="780074"/>
            <a:ext cx="277200" cy="2772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preserve="1">
  <p:cSld name="구역 머리글">
    <p:bg>
      <p:bgPr>
        <a:blipFill rotWithShape="1">
          <a:blip r:embed="rId2">
            <a:alphaModFix/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 preserve="1">
  <p:cSld name="1_제목 및 내용">
    <p:bg>
      <p:bgPr>
        <a:blipFill rotWithShape="1">
          <a:blip r:embed="rId2">
            <a:alphaModFix/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 r:embed="rId2"/>
          <a:srcRect l="46650" t="5310" r="6810" b="36540"/>
          <a:stretch>
            <a:fillRect/>
          </a:stretch>
        </p:blipFill>
        <p:spPr>
          <a:xfrm>
            <a:off x="179451" y="3356991"/>
            <a:ext cx="4320540" cy="2304288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2개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27A1F4E-0809-4239-8034-C38E431DAF92}" type="datetime1">
              <a:rPr lang="ko-KR" altLang="en-US"/>
              <a:pPr lvl="0">
                <a:defRPr lang="ko-KR" altLang="en-US"/>
              </a:pPr>
              <a:t>2026-04-14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E0DA496-7307-4E8B-88DE-CB97B48BAB6F}" type="datetime1">
              <a:rPr lang="ko-KR" altLang="en-US"/>
              <a:pPr lvl="0">
                <a:defRPr lang="ko-KR" altLang="en-US"/>
              </a:pPr>
              <a:t>2026-04-14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표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 noTextEdit="1"/>
          </p:cNvSpPr>
          <p:nvPr>
            <p:ph type="tbl" sz="quarter" idx="13"/>
          </p:nvPr>
        </p:nvSpPr>
        <p:spPr>
          <a:xfrm>
            <a:off x="456028" y="1369219"/>
            <a:ext cx="8229600" cy="3771000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8721E90-850C-410B-8B89-8394F580CFDA}" type="datetime1">
              <a:rPr lang="ko-KR" altLang="en-US"/>
              <a:pPr lvl="0">
                <a:defRPr lang="ko-KR" altLang="en-US"/>
              </a:pPr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333500"/>
            <a:ext cx="4038600" cy="183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48200" y="1333500"/>
            <a:ext cx="4038600" cy="183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56028" y="3320183"/>
            <a:ext cx="4038600" cy="183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7028" y="3320183"/>
            <a:ext cx="4038600" cy="183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ACE7E28-9336-4363-8674-B91477D8F243}" type="datetime1">
              <a:rPr lang="ko-KR" altLang="en-US"/>
              <a:pPr lvl="0">
                <a:defRPr lang="ko-KR" altLang="en-US"/>
              </a:pPr>
              <a:t>2026-04-14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1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 noTextEdit="1"/>
          </p:cNvSpPr>
          <p:nvPr>
            <p:ph type="pic" idx="1"/>
          </p:nvPr>
        </p:nvSpPr>
        <p:spPr>
          <a:xfrm>
            <a:off x="1792288" y="510645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ACE7E28-9336-4363-8674-B91477D8F243}" type="datetime1">
              <a:rPr lang="ko-KR" altLang="en-US"/>
              <a:pPr lvl="0">
                <a:defRPr lang="ko-KR" altLang="en-US"/>
              </a:pPr>
              <a:t>2026-04-14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775354"/>
            <a:ext cx="9144000" cy="1225020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A348888-F454-4AD2-BA62-3AF29D9807C0}" type="datetime1">
              <a:rPr lang="ko-KR" altLang="en-US"/>
              <a:pPr lvl="0">
                <a:defRPr lang="ko-KR" altLang="en-US"/>
              </a:pPr>
              <a:t>2026-04-14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143108" y="1845469"/>
            <a:ext cx="4857767" cy="267890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</a:p>
          <a:p>
            <a:pPr lvl="0">
              <a:defRPr lang="ko-KR" altLang="en-US"/>
            </a:pPr>
            <a:r>
              <a:rPr lang="ko-KR" altLang="en-US"/>
              <a:t>둘째 목차</a:t>
            </a:r>
          </a:p>
          <a:p>
            <a:pPr lvl="0">
              <a:defRPr lang="ko-KR" altLang="en-US"/>
            </a:pPr>
            <a:r>
              <a:rPr lang="ko-KR" altLang="en-US"/>
              <a:t>셋째 목차</a:t>
            </a:r>
          </a:p>
          <a:p>
            <a:pPr lvl="0">
              <a:defRPr lang="ko-KR" altLang="en-US"/>
            </a:pPr>
            <a:r>
              <a:rPr lang="ko-KR" altLang="en-US"/>
              <a:t>넷째 목차</a:t>
            </a:r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956FEC12-A4C9-4837-AF94-AD867782C04C}" type="datetime1">
              <a:rPr lang="ko-KR" altLang="en-US"/>
              <a:pPr lvl="0">
                <a:defRPr lang="ko-KR" altLang="en-US"/>
              </a:pPr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957F84A3-4F29-4053-ACFD-1BAF2D3F140C}" type="datetime1">
              <a:rPr lang="ko-KR" altLang="en-US"/>
              <a:pPr lvl="0">
                <a:defRPr lang="ko-KR" altLang="en-US"/>
              </a:pPr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한컴오피스">
    <p:bg>
      <p:bgPr>
        <a:solidFill>
          <a:srgbClr val="C2E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5296958"/>
            <a:ext cx="2133600" cy="30427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422D86A-5F52-4165-8473-F1B836277586}" type="datetime1">
              <a:rPr lang="ko-KR" altLang="en-US"/>
              <a:pPr lvl="0">
                <a:defRPr lang="ko-KR" altLang="en-US"/>
              </a:pPr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5296958"/>
            <a:ext cx="2895600" cy="30427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5296958"/>
            <a:ext cx="2133600" cy="30427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  <p:sldLayoutId id="2147483912" r:id="rId18"/>
    <p:sldLayoutId id="2147483913" r:id="rId19"/>
    <p:sldLayoutId id="2147483914" r:id="rId20"/>
  </p:sldLayoutIdLst>
  <p:transition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34000" y="3335274"/>
            <a:ext cx="3682243" cy="453390"/>
          </a:xfrm>
          <a:prstGeom prst="rect">
            <a:avLst/>
          </a:prstGeom>
          <a:solidFill>
            <a:srgbClr val="26A0E6"/>
          </a:solidFill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en-US" altLang="ko-KR" sz="2300" b="1">
                <a:solidFill>
                  <a:schemeClr val="bg1"/>
                </a:solidFill>
                <a:latin typeface="휴먼둥근헤드라인"/>
                <a:ea typeface="휴먼둥근헤드라인"/>
              </a:rPr>
              <a:t> </a:t>
            </a:r>
            <a:r>
              <a:rPr lang="en-US" altLang="ko-KR" sz="2000" b="1">
                <a:solidFill>
                  <a:schemeClr val="bg1"/>
                </a:solidFill>
                <a:latin typeface="휴먼둥근헤드라인"/>
                <a:ea typeface="휴먼둥근헤드라인"/>
              </a:rPr>
              <a:t> </a:t>
            </a:r>
            <a:r>
              <a:rPr lang="ko-KR" altLang="en-US" sz="2000" b="1">
                <a:solidFill>
                  <a:schemeClr val="bg1"/>
                </a:solidFill>
                <a:latin typeface="휴먼둥근헤드라인"/>
                <a:ea typeface="휴먼둥근헤드라인"/>
              </a:rPr>
              <a:t> </a:t>
            </a:r>
            <a:r>
              <a:rPr lang="en-US" altLang="ko-KR" sz="2400" b="1">
                <a:solidFill>
                  <a:schemeClr val="bg1"/>
                </a:solidFill>
                <a:latin typeface="휴먼둥근헤드라인"/>
                <a:ea typeface="휴먼둥근헤드라인"/>
              </a:rPr>
              <a:t>Japan Job moa</a:t>
            </a:r>
            <a:r>
              <a:rPr lang="ko-KR" altLang="en-US" sz="2400" b="1">
                <a:solidFill>
                  <a:schemeClr val="bg1"/>
                </a:solidFill>
                <a:latin typeface="휴먼둥근헤드라인"/>
                <a:ea typeface="휴먼둥근헤드라인"/>
              </a:rPr>
              <a:t>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05311" y="1105878"/>
            <a:ext cx="5059013" cy="2229395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연결선: 구부러짐 2"/>
          <p:cNvCxnSpPr/>
          <p:nvPr/>
        </p:nvCxnSpPr>
        <p:spPr>
          <a:xfrm flipV="1">
            <a:off x="604368" y="2847934"/>
            <a:ext cx="3679596" cy="1310129"/>
          </a:xfrm>
          <a:prstGeom prst="curvedConnector3">
            <a:avLst>
              <a:gd name="adj1" fmla="val 50000"/>
            </a:avLst>
          </a:prstGeom>
          <a:ln w="25400" algn="ctr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연결선: 구부러짐 3"/>
          <p:cNvCxnSpPr/>
          <p:nvPr/>
        </p:nvCxnSpPr>
        <p:spPr>
          <a:xfrm flipV="1">
            <a:off x="4355973" y="1335745"/>
            <a:ext cx="3528441" cy="1512189"/>
          </a:xfrm>
          <a:prstGeom prst="curvedConnector3">
            <a:avLst>
              <a:gd name="adj1" fmla="val 43087"/>
            </a:avLst>
          </a:prstGeom>
          <a:ln w="25400" algn="ctr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965989" y="337185"/>
            <a:ext cx="1070569" cy="1070569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467487" y="2641473"/>
            <a:ext cx="2213148" cy="700659"/>
            <a:chOff x="693079" y="2857500"/>
            <a:chExt cx="2213148" cy="700659"/>
          </a:xfrm>
        </p:grpSpPr>
        <p:sp>
          <p:nvSpPr>
            <p:cNvPr id="24" name="TextBox 23"/>
            <p:cNvSpPr txBox="1"/>
            <p:nvPr/>
          </p:nvSpPr>
          <p:spPr>
            <a:xfrm>
              <a:off x="693079" y="2857500"/>
              <a:ext cx="1440180" cy="7006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ko-KR" altLang="en-US" sz="4000">
                  <a:solidFill>
                    <a:srgbClr val="26A0E6"/>
                  </a:solidFill>
                  <a:latin typeface="휴먼둥근헤드라인"/>
                  <a:ea typeface="휴먼둥근헤드라인"/>
                </a:rPr>
                <a:t>1 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43557" y="3066287"/>
              <a:ext cx="1862670" cy="367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en-US" altLang="ko-KR">
                  <a:latin typeface="-윤고딕340"/>
                  <a:ea typeface="-윤고딕340"/>
                </a:rPr>
                <a:t>JJmoa </a:t>
              </a:r>
              <a:r>
                <a:rPr lang="ko-KR" altLang="en-US">
                  <a:latin typeface="-윤고딕340"/>
                  <a:ea typeface="-윤고딕340"/>
                </a:rPr>
                <a:t>소개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884414" y="1335745"/>
            <a:ext cx="1358606" cy="367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>
                <a:solidFill>
                  <a:schemeClr val="bg1">
                    <a:lumMod val="30000"/>
                  </a:schemeClr>
                </a:solidFill>
                <a:latin typeface="배달의민족 도현"/>
                <a:ea typeface="배달의민족 도현"/>
                <a:cs typeface="둥근모꼴"/>
              </a:rPr>
              <a:t>일본 취업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2843784" y="3298698"/>
            <a:ext cx="2357166" cy="701040"/>
            <a:chOff x="693079" y="2857500"/>
            <a:chExt cx="2357166" cy="701040"/>
          </a:xfrm>
        </p:grpSpPr>
        <p:sp>
          <p:nvSpPr>
            <p:cNvPr id="11" name="TextBox 10"/>
            <p:cNvSpPr txBox="1"/>
            <p:nvPr/>
          </p:nvSpPr>
          <p:spPr>
            <a:xfrm>
              <a:off x="693079" y="2857500"/>
              <a:ext cx="1440180" cy="7010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ko-KR" altLang="en-US" sz="4000">
                  <a:solidFill>
                    <a:schemeClr val="bg2">
                      <a:lumMod val="70000"/>
                    </a:schemeClr>
                  </a:solidFill>
                  <a:latin typeface="휴먼둥근헤드라인"/>
                  <a:ea typeface="휴먼둥근헤드라인"/>
                </a:rPr>
                <a:t>2</a:t>
              </a:r>
              <a:r>
                <a:rPr lang="ko-KR" altLang="en-US" sz="4000">
                  <a:solidFill>
                    <a:schemeClr val="bg2">
                      <a:lumMod val="40000"/>
                      <a:lumOff val="60000"/>
                    </a:schemeClr>
                  </a:solidFill>
                  <a:latin typeface="휴먼둥근헤드라인"/>
                  <a:ea typeface="휴먼둥근헤드라인"/>
                </a:rPr>
                <a:t>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7575" y="3054096"/>
              <a:ext cx="1862670" cy="367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ko-KR" altLang="en-US">
                  <a:latin typeface="-윤고딕340"/>
                  <a:ea typeface="-윤고딕340"/>
                </a:rPr>
                <a:t>프로젝트 개요</a:t>
              </a: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3203829" y="1163193"/>
            <a:ext cx="2330727" cy="700659"/>
            <a:chOff x="693079" y="2857500"/>
            <a:chExt cx="2330727" cy="700659"/>
          </a:xfrm>
        </p:grpSpPr>
        <p:sp>
          <p:nvSpPr>
            <p:cNvPr id="14" name="TextBox 13"/>
            <p:cNvSpPr txBox="1"/>
            <p:nvPr/>
          </p:nvSpPr>
          <p:spPr>
            <a:xfrm>
              <a:off x="693079" y="2857500"/>
              <a:ext cx="1440180" cy="7006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ko-KR" altLang="en-US" sz="4000">
                  <a:solidFill>
                    <a:srgbClr val="26A0E6"/>
                  </a:solidFill>
                  <a:latin typeface="휴먼둥근헤드라인"/>
                  <a:ea typeface="휴먼둥근헤드라인"/>
                </a:rPr>
                <a:t>3 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61136" y="3066288"/>
              <a:ext cx="1862670" cy="3672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ko-KR" altLang="en-US">
                  <a:latin typeface="-윤고딕340"/>
                  <a:ea typeface="-윤고딕340"/>
                </a:rPr>
                <a:t>개발 과정</a:t>
              </a: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6120193" y="1931248"/>
            <a:ext cx="2916365" cy="700659"/>
            <a:chOff x="693079" y="2857500"/>
            <a:chExt cx="2916365" cy="700659"/>
          </a:xfrm>
        </p:grpSpPr>
        <p:sp>
          <p:nvSpPr>
            <p:cNvPr id="17" name="TextBox 16"/>
            <p:cNvSpPr txBox="1"/>
            <p:nvPr/>
          </p:nvSpPr>
          <p:spPr>
            <a:xfrm>
              <a:off x="693079" y="2857500"/>
              <a:ext cx="1440180" cy="7006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ko-KR" altLang="en-US" sz="4000">
                  <a:solidFill>
                    <a:schemeClr val="bg2">
                      <a:lumMod val="70000"/>
                    </a:schemeClr>
                  </a:solidFill>
                  <a:latin typeface="휴먼둥근헤드라인"/>
                  <a:ea typeface="휴먼둥근헤드라인"/>
                </a:rPr>
                <a:t>4</a:t>
              </a:r>
              <a:r>
                <a:rPr lang="ko-KR" altLang="en-US" sz="4000">
                  <a:solidFill>
                    <a:schemeClr val="bg2">
                      <a:lumMod val="40000"/>
                      <a:lumOff val="60000"/>
                    </a:schemeClr>
                  </a:solidFill>
                  <a:latin typeface="휴먼둥근헤드라인"/>
                  <a:ea typeface="휴먼둥근헤드라인"/>
                </a:rPr>
                <a:t> 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87575" y="3054095"/>
              <a:ext cx="2421869" cy="3658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ko-KR" altLang="en-US">
                  <a:latin typeface="-윤고딕340"/>
                  <a:ea typeface="-윤고딕340"/>
                </a:rPr>
                <a:t>개선 사항 및 느낀점</a:t>
              </a:r>
            </a:p>
          </p:txBody>
        </p:sp>
      </p:grpSp>
      <p:sp>
        <p:nvSpPr>
          <p:cNvPr id="19" name="직사각형 18"/>
          <p:cNvSpPr/>
          <p:nvPr/>
        </p:nvSpPr>
        <p:spPr>
          <a:xfrm>
            <a:off x="0" y="5233797"/>
            <a:ext cx="9144000" cy="481203"/>
          </a:xfrm>
          <a:prstGeom prst="rect">
            <a:avLst/>
          </a:prstGeom>
          <a:solidFill>
            <a:srgbClr val="26A0E6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09953" y="3227110"/>
            <a:ext cx="2133831" cy="575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600">
                <a:latin typeface="-윤고딕330"/>
                <a:ea typeface="-윤고딕330"/>
              </a:rPr>
              <a:t>· 개발 목적</a:t>
            </a:r>
          </a:p>
          <a:p>
            <a:pPr>
              <a:defRPr lang="ko-KR" altLang="en-US"/>
            </a:pPr>
            <a:r>
              <a:rPr lang="ko-KR" altLang="en-US" sz="1600">
                <a:latin typeface="-윤고딕330"/>
                <a:ea typeface="-윤고딕330"/>
              </a:rPr>
              <a:t>· 기대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3829" y="3869857"/>
            <a:ext cx="2133832" cy="576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600">
                <a:latin typeface="-윤고딕330"/>
                <a:ea typeface="-윤고딕330"/>
              </a:rPr>
              <a:t>· 개발 환경</a:t>
            </a:r>
          </a:p>
          <a:p>
            <a:pPr>
              <a:defRPr lang="ko-KR" altLang="en-US"/>
            </a:pPr>
            <a:r>
              <a:rPr lang="ko-KR" altLang="en-US" sz="1600">
                <a:latin typeface="-윤고딕330"/>
                <a:ea typeface="-윤고딕330"/>
              </a:rPr>
              <a:t>· 역할 분담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1744979"/>
            <a:ext cx="2133831" cy="824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600">
                <a:latin typeface="-윤고딕330"/>
                <a:ea typeface="-윤고딕330"/>
              </a:rPr>
              <a:t>· 개발 일정 일람</a:t>
            </a:r>
          </a:p>
          <a:p>
            <a:pPr>
              <a:defRPr lang="ko-KR" altLang="en-US"/>
            </a:pPr>
            <a:r>
              <a:rPr lang="ko-KR" altLang="en-US" sz="1600">
                <a:latin typeface="-윤고딕330"/>
                <a:ea typeface="-윤고딕330"/>
              </a:rPr>
              <a:t>· 개발 과정 세부사항</a:t>
            </a:r>
          </a:p>
          <a:p>
            <a:pPr>
              <a:defRPr lang="ko-KR" altLang="en-US"/>
            </a:pPr>
            <a:r>
              <a:rPr lang="ko-KR" altLang="en-US" sz="1600">
                <a:latin typeface="-윤고딕330"/>
                <a:ea typeface="-윤고딕330"/>
              </a:rPr>
              <a:t>· 사이트 작동 시연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9766" y="5233797"/>
            <a:ext cx="3600451" cy="453390"/>
          </a:xfrm>
          <a:prstGeom prst="rect">
            <a:avLst/>
          </a:prstGeom>
          <a:solidFill>
            <a:srgbClr val="26A0E6"/>
          </a:solidFill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en-US" altLang="ko-KR" sz="2400" b="1">
                <a:solidFill>
                  <a:schemeClr val="bg1"/>
                </a:solidFill>
                <a:latin typeface="휴먼둥근헤드라인"/>
                <a:ea typeface="휴먼둥근헤드라인"/>
              </a:rPr>
              <a:t>  Japan Job moa</a:t>
            </a:r>
          </a:p>
        </p:txBody>
      </p:sp>
      <p:sp>
        <p:nvSpPr>
          <p:cNvPr id="2" name="TextBox 1"/>
          <p:cNvSpPr txBox="1"/>
          <p:nvPr/>
        </p:nvSpPr>
        <p:spPr>
          <a:xfrm rot="21259910">
            <a:off x="-11915" y="1157207"/>
            <a:ext cx="591624" cy="5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900">
                <a:solidFill>
                  <a:srgbClr val="9ED9EC"/>
                </a:solidFill>
                <a:latin typeface="배달의민족 도현"/>
                <a:ea typeface="배달의민족 도현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 rot="21259910">
            <a:off x="427232" y="1075912"/>
            <a:ext cx="591624" cy="529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900">
                <a:solidFill>
                  <a:schemeClr val="bg2">
                    <a:lumMod val="90000"/>
                  </a:schemeClr>
                </a:solidFill>
                <a:latin typeface="배달의민족 도현"/>
                <a:ea typeface="배달의민족 도현"/>
              </a:rPr>
              <a:t>O</a:t>
            </a:r>
          </a:p>
        </p:txBody>
      </p:sp>
      <p:sp>
        <p:nvSpPr>
          <p:cNvPr id="27" name="TextBox 26"/>
          <p:cNvSpPr txBox="1"/>
          <p:nvPr/>
        </p:nvSpPr>
        <p:spPr>
          <a:xfrm rot="20747124">
            <a:off x="811356" y="967185"/>
            <a:ext cx="596033" cy="529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900">
                <a:solidFill>
                  <a:srgbClr val="9ED9EC"/>
                </a:solidFill>
                <a:latin typeface="배달의민족 도현"/>
                <a:ea typeface="배달의민족 도현"/>
              </a:rPr>
              <a:t>N</a:t>
            </a:r>
          </a:p>
        </p:txBody>
      </p:sp>
      <p:sp>
        <p:nvSpPr>
          <p:cNvPr id="5" name="TextBox 4"/>
          <p:cNvSpPr txBox="1"/>
          <p:nvPr/>
        </p:nvSpPr>
        <p:spPr>
          <a:xfrm rot="20067681">
            <a:off x="1194042" y="756698"/>
            <a:ext cx="729161" cy="529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900">
                <a:solidFill>
                  <a:schemeClr val="bg2">
                    <a:lumMod val="90000"/>
                  </a:schemeClr>
                </a:solidFill>
                <a:latin typeface="배달의민족 도현"/>
                <a:ea typeface="배달의민족 도현"/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 rot="19560161">
            <a:off x="1474410" y="393031"/>
            <a:ext cx="902500" cy="529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900">
                <a:solidFill>
                  <a:srgbClr val="9ED9EC"/>
                </a:solidFill>
                <a:latin typeface="배달의민족 도현"/>
                <a:ea typeface="배달의민족 도현"/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 rot="19928311">
            <a:off x="1846325" y="105570"/>
            <a:ext cx="706893" cy="529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900">
                <a:solidFill>
                  <a:schemeClr val="bg2">
                    <a:lumMod val="90000"/>
                  </a:schemeClr>
                </a:solidFill>
                <a:latin typeface="배달의민족 도현"/>
                <a:ea typeface="배달의민족 도현"/>
              </a:rPr>
              <a:t>N</a:t>
            </a:r>
          </a:p>
        </p:txBody>
      </p:sp>
      <p:sp>
        <p:nvSpPr>
          <p:cNvPr id="29" name="TextBox 28"/>
          <p:cNvSpPr txBox="1"/>
          <p:nvPr/>
        </p:nvSpPr>
        <p:spPr>
          <a:xfrm rot="20458817">
            <a:off x="2246252" y="2338"/>
            <a:ext cx="605635" cy="52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900">
                <a:solidFill>
                  <a:srgbClr val="9ED9EC"/>
                </a:solidFill>
                <a:latin typeface="배달의민족 도현"/>
                <a:ea typeface="배달의민족 도현"/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 rot="20458817">
            <a:off x="2618871" y="-189732"/>
            <a:ext cx="902502" cy="538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900">
                <a:solidFill>
                  <a:schemeClr val="bg2">
                    <a:lumMod val="90000"/>
                  </a:schemeClr>
                </a:solidFill>
                <a:latin typeface="배달의민족 도현"/>
                <a:ea typeface="배달의민족 도현"/>
              </a:rPr>
              <a:t>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55748" y="1466088"/>
            <a:ext cx="3888486" cy="1572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68062" y="3145536"/>
            <a:ext cx="2592324" cy="472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500" b="1">
                <a:latin typeface="-윤고딕340"/>
                <a:ea typeface="-윤고딕340"/>
              </a:rPr>
              <a:t>Japan</a:t>
            </a:r>
            <a:r>
              <a:rPr lang="ko-KR" altLang="en-US" sz="2500" b="1">
                <a:latin typeface="-윤고딕340"/>
                <a:ea typeface="-윤고딕340"/>
              </a:rPr>
              <a:t> </a:t>
            </a:r>
            <a:r>
              <a:rPr lang="en-US" altLang="ko-KR" sz="2500" b="1">
                <a:latin typeface="-윤고딕340"/>
                <a:ea typeface="-윤고딕340"/>
              </a:rPr>
              <a:t>Job Moa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1990" y="3050286"/>
            <a:ext cx="792099" cy="729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4200">
                <a:solidFill>
                  <a:schemeClr val="tx1"/>
                </a:solidFill>
                <a:latin typeface="휴먼둥근헤드라인"/>
                <a:ea typeface="휴먼둥근헤드라인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 rot="10806621">
            <a:off x="5435406" y="2816327"/>
            <a:ext cx="864108" cy="729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4200">
                <a:solidFill>
                  <a:schemeClr val="tx1"/>
                </a:solidFill>
                <a:latin typeface="휴먼둥근헤드라인"/>
                <a:ea typeface="휴먼둥근헤드라인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3694" y="708660"/>
            <a:ext cx="6192774" cy="348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"</a:t>
            </a:r>
            <a:r>
              <a:rPr lang="en-US" altLang="ko-KR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Japan Job moa</a:t>
            </a: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"</a:t>
            </a:r>
            <a:r>
              <a:rPr lang="en-US" altLang="ko-KR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 </a:t>
            </a: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란?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547622" y="3779520"/>
            <a:ext cx="6192774" cy="465201"/>
          </a:xfrm>
          <a:prstGeom prst="rect">
            <a:avLst/>
          </a:prstGeom>
          <a:solidFill>
            <a:srgbClr val="26A0E6"/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r>
              <a:rPr lang="en-US" altLang="en-US" sz="1900" dirty="0" err="1">
                <a:latin typeface="배달의민족 도현"/>
                <a:ea typeface="배달의민족 도현"/>
              </a:rPr>
              <a:t>일본</a:t>
            </a:r>
            <a:r>
              <a:rPr lang="en-US" altLang="en-US" sz="1900" dirty="0">
                <a:latin typeface="배달의민족 도현"/>
                <a:ea typeface="배달의민족 도현"/>
              </a:rPr>
              <a:t> </a:t>
            </a:r>
            <a:r>
              <a:rPr lang="en-US" altLang="en-US" sz="1900" dirty="0" err="1">
                <a:latin typeface="배달의민족 도현"/>
                <a:ea typeface="배달의민족 도현"/>
              </a:rPr>
              <a:t>회사</a:t>
            </a:r>
            <a:r>
              <a:rPr lang="en-US" altLang="en-US" sz="1900" dirty="0">
                <a:latin typeface="배달의민족 도현"/>
                <a:ea typeface="배달의민족 도현"/>
              </a:rPr>
              <a:t> </a:t>
            </a:r>
            <a:r>
              <a:rPr lang="en-US" altLang="en-US" sz="1900" dirty="0" err="1">
                <a:latin typeface="배달의민족 도현"/>
                <a:ea typeface="배달의민족 도현"/>
              </a:rPr>
              <a:t>공고를</a:t>
            </a:r>
            <a:r>
              <a:rPr lang="en-US" altLang="en-US" sz="1900" dirty="0">
                <a:latin typeface="배달의민족 도현"/>
                <a:ea typeface="배달의민족 도현"/>
              </a:rPr>
              <a:t> 한 </a:t>
            </a:r>
            <a:r>
              <a:rPr lang="en-US" altLang="en-US" sz="1900" dirty="0" err="1">
                <a:latin typeface="배달의민족 도현"/>
                <a:ea typeface="배달의민족 도현"/>
              </a:rPr>
              <a:t>눈에</a:t>
            </a:r>
            <a:r>
              <a:rPr lang="en-US" altLang="en-US" sz="1900" dirty="0">
                <a:latin typeface="배달의민족 도현"/>
                <a:ea typeface="배달의민족 도현"/>
              </a:rPr>
              <a:t> 볼 수 </a:t>
            </a:r>
            <a:r>
              <a:rPr lang="en-US" altLang="en-US" sz="1900" dirty="0" err="1">
                <a:latin typeface="배달의민족 도현"/>
                <a:ea typeface="배달의민족 도현"/>
              </a:rPr>
              <a:t>있는</a:t>
            </a:r>
            <a:r>
              <a:rPr lang="en-US" altLang="en-US" sz="1900" dirty="0">
                <a:latin typeface="배달의민족 도현"/>
                <a:ea typeface="배달의민족 도현"/>
              </a:rPr>
              <a:t> </a:t>
            </a:r>
            <a:r>
              <a:rPr lang="en-US" altLang="en-US" sz="1900" dirty="0" err="1">
                <a:latin typeface="배달의민족 도현"/>
                <a:ea typeface="배달의민족 도현"/>
              </a:rPr>
              <a:t>사이트</a:t>
            </a:r>
            <a:endParaRPr lang="en-US" altLang="en-US" sz="1900" dirty="0">
              <a:latin typeface="배달의민족 도현"/>
              <a:ea typeface="배달의민족 도현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63649" y="4369689"/>
            <a:ext cx="5832729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en-US" sz="1900" b="0" i="0" dirty="0" err="1">
                <a:solidFill>
                  <a:srgbClr val="000000"/>
                </a:solidFill>
                <a:latin typeface="-윤고딕340"/>
                <a:ea typeface="-윤고딕340"/>
              </a:rPr>
              <a:t>분산되어있는</a:t>
            </a:r>
            <a:r>
              <a:rPr lang="ko-KR" altLang="en-US" sz="1900" b="0" i="0" dirty="0">
                <a:solidFill>
                  <a:srgbClr val="000000"/>
                </a:solidFill>
                <a:latin typeface="-윤고딕340"/>
                <a:ea typeface="-윤고딕340"/>
              </a:rPr>
              <a:t> </a:t>
            </a:r>
            <a:r>
              <a:rPr lang="en-US" altLang="en-US" sz="1900" b="0" i="0" dirty="0" err="1">
                <a:solidFill>
                  <a:srgbClr val="C90000"/>
                </a:solidFill>
                <a:latin typeface="-윤고딕340"/>
                <a:ea typeface="-윤고딕340"/>
              </a:rPr>
              <a:t>일본</a:t>
            </a:r>
            <a:r>
              <a:rPr lang="ko-KR" altLang="en-US" sz="1900" b="0" i="0" dirty="0">
                <a:solidFill>
                  <a:srgbClr val="C90000"/>
                </a:solidFill>
                <a:latin typeface="-윤고딕340"/>
                <a:ea typeface="-윤고딕340"/>
              </a:rPr>
              <a:t> </a:t>
            </a:r>
            <a:r>
              <a:rPr lang="en-US" altLang="en-US" sz="1900" b="0" i="0" dirty="0" err="1">
                <a:solidFill>
                  <a:srgbClr val="C90000"/>
                </a:solidFill>
                <a:latin typeface="-윤고딕340"/>
                <a:ea typeface="-윤고딕340"/>
              </a:rPr>
              <a:t>취업</a:t>
            </a:r>
            <a:r>
              <a:rPr lang="en-US" altLang="en-US" sz="1900" b="0" i="0" dirty="0">
                <a:solidFill>
                  <a:srgbClr val="C90000"/>
                </a:solidFill>
                <a:latin typeface="-윤고딕340"/>
                <a:ea typeface="-윤고딕340"/>
              </a:rPr>
              <a:t> </a:t>
            </a:r>
            <a:r>
              <a:rPr lang="en-US" altLang="en-US" sz="1900" b="0" i="0" dirty="0" err="1">
                <a:solidFill>
                  <a:srgbClr val="C90000"/>
                </a:solidFill>
                <a:latin typeface="-윤고딕340"/>
                <a:ea typeface="-윤고딕340"/>
              </a:rPr>
              <a:t>사이트</a:t>
            </a:r>
            <a:r>
              <a:rPr lang="en-US" altLang="en-US" sz="1900" b="0" i="0" dirty="0" err="1">
                <a:solidFill>
                  <a:srgbClr val="000000"/>
                </a:solidFill>
                <a:latin typeface="-윤고딕340"/>
                <a:ea typeface="-윤고딕340"/>
              </a:rPr>
              <a:t>들을</a:t>
            </a:r>
            <a:r>
              <a:rPr lang="en-US" altLang="en-US" sz="1900" b="0" i="0" dirty="0">
                <a:solidFill>
                  <a:srgbClr val="000000"/>
                </a:solidFill>
                <a:latin typeface="-윤고딕340"/>
                <a:ea typeface="-윤고딕340"/>
              </a:rPr>
              <a:t> </a:t>
            </a:r>
            <a:r>
              <a:rPr lang="en-US" altLang="en-US" sz="1900" b="0" i="0" dirty="0" err="1">
                <a:solidFill>
                  <a:srgbClr val="000000"/>
                </a:solidFill>
                <a:latin typeface="-윤고딕340"/>
                <a:ea typeface="-윤고딕340"/>
              </a:rPr>
              <a:t>하나로</a:t>
            </a:r>
            <a:r>
              <a:rPr lang="en-US" altLang="en-US" sz="1900" b="0" i="0" dirty="0">
                <a:solidFill>
                  <a:srgbClr val="000000"/>
                </a:solidFill>
                <a:latin typeface="-윤고딕340"/>
                <a:ea typeface="-윤고딕340"/>
              </a:rPr>
              <a:t> </a:t>
            </a:r>
            <a:r>
              <a:rPr lang="en-US" altLang="en-US" sz="1900" b="0" i="0" dirty="0" err="1">
                <a:solidFill>
                  <a:srgbClr val="C90000"/>
                </a:solidFill>
                <a:latin typeface="-윤고딕340"/>
                <a:ea typeface="-윤고딕340"/>
              </a:rPr>
              <a:t>모아</a:t>
            </a:r>
            <a:endParaRPr lang="en-US" altLang="en-US" sz="1900" b="0" i="0" dirty="0">
              <a:solidFill>
                <a:srgbClr val="000000"/>
              </a:solidFill>
              <a:latin typeface="-윤고딕340"/>
              <a:ea typeface="-윤고딕340"/>
            </a:endParaRPr>
          </a:p>
          <a:p>
            <a:pPr algn="ctr">
              <a:defRPr lang="ko-KR" altLang="en-US"/>
            </a:pPr>
            <a:r>
              <a:rPr lang="en-US" altLang="en-US" sz="1900" b="0" i="0" dirty="0">
                <a:solidFill>
                  <a:srgbClr val="000000"/>
                </a:solidFill>
                <a:latin typeface="-윤고딕340"/>
                <a:ea typeface="-윤고딕340"/>
              </a:rPr>
              <a:t> </a:t>
            </a:r>
            <a:r>
              <a:rPr lang="ko-KR" altLang="en-US" sz="1900" b="0" i="0" dirty="0">
                <a:solidFill>
                  <a:srgbClr val="000000"/>
                </a:solidFill>
                <a:latin typeface="-윤고딕340"/>
                <a:ea typeface="-윤고딕340"/>
              </a:rPr>
              <a:t>각 사이트에 게재된 공고를 </a:t>
            </a:r>
            <a:r>
              <a:rPr lang="en-US" altLang="en-US" sz="1900" b="0" i="0" dirty="0" err="1">
                <a:solidFill>
                  <a:srgbClr val="000000"/>
                </a:solidFill>
                <a:latin typeface="-윤고딕340"/>
                <a:ea typeface="-윤고딕340"/>
              </a:rPr>
              <a:t>한눈에</a:t>
            </a:r>
            <a:r>
              <a:rPr lang="en-US" altLang="en-US" sz="1900" b="0" i="0" dirty="0">
                <a:solidFill>
                  <a:srgbClr val="000000"/>
                </a:solidFill>
                <a:latin typeface="-윤고딕340"/>
                <a:ea typeface="-윤고딕340"/>
              </a:rPr>
              <a:t> 볼 수 </a:t>
            </a:r>
            <a:r>
              <a:rPr lang="ko-KR" altLang="en-US" sz="1900" b="0" i="0" dirty="0">
                <a:solidFill>
                  <a:srgbClr val="000000"/>
                </a:solidFill>
                <a:latin typeface="-윤고딕340"/>
                <a:ea typeface="-윤고딕340"/>
              </a:rPr>
              <a:t>있</a:t>
            </a:r>
            <a:r>
              <a:rPr lang="en-US" altLang="en-US" sz="1900" b="0" i="0" dirty="0">
                <a:solidFill>
                  <a:srgbClr val="000000"/>
                </a:solidFill>
                <a:latin typeface="-윤고딕340"/>
                <a:ea typeface="-윤고딕340"/>
              </a:rPr>
              <a:t>는 </a:t>
            </a:r>
            <a:r>
              <a:rPr lang="en-US" altLang="en-US" sz="1900" b="0" i="0" dirty="0" err="1">
                <a:solidFill>
                  <a:srgbClr val="000000"/>
                </a:solidFill>
                <a:latin typeface="-윤고딕340"/>
                <a:ea typeface="-윤고딕340"/>
              </a:rPr>
              <a:t>서비스를</a:t>
            </a:r>
            <a:r>
              <a:rPr lang="en-US" altLang="en-US" sz="1900" b="0" i="0" dirty="0">
                <a:solidFill>
                  <a:srgbClr val="000000"/>
                </a:solidFill>
                <a:latin typeface="-윤고딕340"/>
                <a:ea typeface="-윤고딕340"/>
              </a:rPr>
              <a:t> </a:t>
            </a:r>
            <a:r>
              <a:rPr lang="en-US" altLang="en-US" sz="1900" b="0" i="0" dirty="0" err="1">
                <a:solidFill>
                  <a:srgbClr val="000000"/>
                </a:solidFill>
                <a:latin typeface="-윤고딕340"/>
                <a:ea typeface="-윤고딕340"/>
              </a:rPr>
              <a:t>구직자에게</a:t>
            </a:r>
            <a:r>
              <a:rPr lang="en-US" altLang="en-US" sz="1900" b="0" i="0" dirty="0">
                <a:solidFill>
                  <a:srgbClr val="000000"/>
                </a:solidFill>
                <a:latin typeface="-윤고딕340"/>
                <a:ea typeface="-윤고딕340"/>
              </a:rPr>
              <a:t> </a:t>
            </a:r>
            <a:r>
              <a:rPr lang="en-US" altLang="en-US" sz="1900" b="0" i="0" dirty="0" err="1">
                <a:solidFill>
                  <a:srgbClr val="000000"/>
                </a:solidFill>
                <a:latin typeface="-윤고딕340"/>
                <a:ea typeface="-윤고딕340"/>
              </a:rPr>
              <a:t>제공</a:t>
            </a:r>
            <a:endParaRPr lang="en-US" altLang="en-US" sz="1900" b="0" i="0" dirty="0">
              <a:solidFill>
                <a:srgbClr val="000000"/>
              </a:solidFill>
              <a:latin typeface="-윤고딕340"/>
              <a:ea typeface="-윤고딕34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123694" y="708660"/>
            <a:ext cx="6192774" cy="348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Japan Job moa </a:t>
            </a: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개발 목적 및 기대효과 </a:t>
            </a:r>
          </a:p>
        </p:txBody>
      </p:sp>
      <p:sp>
        <p:nvSpPr>
          <p:cNvPr id="12" name="사각형: 둥근 모서리 11"/>
          <p:cNvSpPr/>
          <p:nvPr/>
        </p:nvSpPr>
        <p:spPr>
          <a:xfrm>
            <a:off x="683514" y="3073527"/>
            <a:ext cx="3672459" cy="2232279"/>
          </a:xfrm>
          <a:prstGeom prst="roundRect">
            <a:avLst>
              <a:gd name="adj" fmla="val 16667"/>
            </a:avLst>
          </a:prstGeom>
          <a:solidFill>
            <a:schemeClr val="bg1">
              <a:lumMod val="80000"/>
              <a:alpha val="59000"/>
            </a:scheme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96423" y="1494111"/>
            <a:ext cx="1435397" cy="1435397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49737" y="1494111"/>
            <a:ext cx="1718650" cy="142974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9541" y="3211639"/>
            <a:ext cx="3456432" cy="415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>
                <a:latin typeface="-윤고딕340"/>
                <a:ea typeface="-윤고딕340"/>
              </a:rPr>
              <a:t>기존환경에서의 </a:t>
            </a:r>
            <a:r>
              <a:rPr lang="ko-KR" altLang="en-US" sz="2200">
                <a:solidFill>
                  <a:srgbClr val="D00000"/>
                </a:solidFill>
                <a:latin typeface="-윤고딕340"/>
                <a:ea typeface="-윤고딕340"/>
              </a:rPr>
              <a:t>애로사항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6108" y="3210306"/>
            <a:ext cx="3024378" cy="367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endParaRPr lang="ko-KR" altLang="en-US">
              <a:latin typeface="-윤고딕340"/>
              <a:ea typeface="-윤고딕34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9541" y="3631882"/>
            <a:ext cx="3096387" cy="1462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>
                <a:latin typeface="-윤고딕330"/>
                <a:ea typeface="-윤고딕330"/>
              </a:rPr>
              <a:t>현재 다수의 해외 취업 관련 </a:t>
            </a:r>
          </a:p>
          <a:p>
            <a:pPr algn="ctr">
              <a:defRPr lang="ko-KR" altLang="en-US"/>
            </a:pPr>
            <a:r>
              <a:rPr lang="ko-KR" altLang="en-US">
                <a:latin typeface="-윤고딕330"/>
                <a:ea typeface="-윤고딕330"/>
              </a:rPr>
              <a:t>사이트가 존재하며, </a:t>
            </a:r>
          </a:p>
          <a:p>
            <a:pPr algn="ctr">
              <a:defRPr lang="ko-KR" altLang="en-US"/>
            </a:pPr>
            <a:r>
              <a:rPr lang="ko-KR" altLang="en-US">
                <a:latin typeface="-윤고딕330"/>
                <a:ea typeface="-윤고딕330"/>
              </a:rPr>
              <a:t>각 사이트 마다 다수의 </a:t>
            </a:r>
          </a:p>
          <a:p>
            <a:pPr algn="ctr">
              <a:defRPr lang="ko-KR" altLang="en-US"/>
            </a:pPr>
            <a:r>
              <a:rPr lang="ko-KR" altLang="en-US">
                <a:latin typeface="-윤고딕330"/>
                <a:ea typeface="-윤고딕330"/>
              </a:rPr>
              <a:t>구인공고가 게시 되어있음</a:t>
            </a:r>
          </a:p>
          <a:p>
            <a:pPr algn="ctr">
              <a:defRPr lang="ko-KR" altLang="en-US"/>
            </a:pPr>
            <a:endParaRPr lang="ko-KR" altLang="en-US">
              <a:latin typeface="-윤고딕330"/>
              <a:ea typeface="-윤고딕33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9541" y="4834509"/>
            <a:ext cx="3888486" cy="373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900">
                <a:solidFill>
                  <a:srgbClr val="D00000"/>
                </a:solidFill>
                <a:latin typeface="-윤고딕340"/>
                <a:ea typeface="-윤고딕340"/>
              </a:rPr>
              <a:t>▶</a:t>
            </a:r>
            <a:r>
              <a:rPr lang="ko-KR" altLang="en-US" sz="500">
                <a:solidFill>
                  <a:srgbClr val="D00000"/>
                </a:solidFill>
                <a:latin typeface="-윤고딕340"/>
                <a:ea typeface="-윤고딕340"/>
              </a:rPr>
              <a:t> </a:t>
            </a:r>
            <a:r>
              <a:rPr lang="ko-KR" altLang="en-US" sz="1900" b="1">
                <a:latin typeface="-윤고딕340"/>
                <a:ea typeface="-윤고딕340"/>
              </a:rPr>
              <a:t>전 사이트의 공고 확인 난해</a:t>
            </a:r>
          </a:p>
        </p:txBody>
      </p:sp>
      <p:sp>
        <p:nvSpPr>
          <p:cNvPr id="28" name="사각형: 둥근 모서리 27"/>
          <p:cNvSpPr/>
          <p:nvPr/>
        </p:nvSpPr>
        <p:spPr>
          <a:xfrm>
            <a:off x="5004054" y="3073527"/>
            <a:ext cx="3672459" cy="2232279"/>
          </a:xfrm>
          <a:prstGeom prst="roundRect">
            <a:avLst>
              <a:gd name="adj" fmla="val 16667"/>
            </a:avLst>
          </a:prstGeom>
          <a:solidFill>
            <a:schemeClr val="bg1">
              <a:lumMod val="80000"/>
              <a:alpha val="59000"/>
            </a:scheme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5364099" y="3211639"/>
            <a:ext cx="3456432" cy="415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200">
                <a:latin typeface="-윤고딕340"/>
                <a:ea typeface="-윤고딕340"/>
              </a:rPr>
              <a:t>JJmoa</a:t>
            </a:r>
            <a:r>
              <a:rPr lang="ko-KR" altLang="en-US" sz="2200">
                <a:latin typeface="-윤고딕340"/>
                <a:ea typeface="-윤고딕340"/>
              </a:rPr>
              <a:t>를 통한 </a:t>
            </a:r>
            <a:r>
              <a:rPr lang="ko-KR" altLang="en-US" sz="2200">
                <a:solidFill>
                  <a:srgbClr val="D00000"/>
                </a:solidFill>
                <a:latin typeface="-윤고딕340"/>
                <a:ea typeface="-윤고딕340"/>
              </a:rPr>
              <a:t>기대효과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36" y="3649599"/>
            <a:ext cx="3923918" cy="1462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>
                <a:latin typeface="-윤고딕330"/>
                <a:ea typeface="-윤고딕330"/>
              </a:rPr>
              <a:t>일본 취업을 목표로 하는 </a:t>
            </a:r>
          </a:p>
          <a:p>
            <a:pPr algn="ctr">
              <a:defRPr lang="ko-KR" altLang="en-US"/>
            </a:pPr>
            <a:r>
              <a:rPr lang="ko-KR" altLang="en-US">
                <a:latin typeface="-윤고딕330"/>
                <a:ea typeface="-윤고딕330"/>
              </a:rPr>
              <a:t>구직가에게 통합 정보 제공하여,</a:t>
            </a:r>
          </a:p>
          <a:p>
            <a:pPr algn="ctr">
              <a:defRPr lang="ko-KR" altLang="en-US"/>
            </a:pPr>
            <a:r>
              <a:rPr lang="ko-KR" altLang="en-US">
                <a:latin typeface="-윤고딕330"/>
                <a:ea typeface="-윤고딕330"/>
              </a:rPr>
              <a:t>모든 관련 사이트에 접속 후</a:t>
            </a:r>
          </a:p>
          <a:p>
            <a:pPr algn="ctr">
              <a:defRPr lang="ko-KR" altLang="en-US"/>
            </a:pPr>
            <a:r>
              <a:rPr lang="ko-KR" altLang="en-US">
                <a:latin typeface="-윤고딕330"/>
                <a:ea typeface="-윤고딕330"/>
              </a:rPr>
              <a:t> 공고를 확인해야하는 번거로움 감소</a:t>
            </a:r>
          </a:p>
          <a:p>
            <a:pPr algn="ctr">
              <a:defRPr lang="ko-KR" altLang="en-US"/>
            </a:pPr>
            <a:endParaRPr lang="ko-KR" altLang="en-US">
              <a:latin typeface="-윤고딕330"/>
              <a:ea typeface="-윤고딕33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48072" y="4834509"/>
            <a:ext cx="3888486" cy="373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900">
                <a:solidFill>
                  <a:srgbClr val="D00000"/>
                </a:solidFill>
                <a:latin typeface="-윤고딕340"/>
                <a:ea typeface="-윤고딕340"/>
              </a:rPr>
              <a:t>▶</a:t>
            </a:r>
            <a:r>
              <a:rPr lang="ko-KR" altLang="en-US" sz="500">
                <a:solidFill>
                  <a:srgbClr val="D00000"/>
                </a:solidFill>
                <a:latin typeface="-윤고딕340"/>
                <a:ea typeface="-윤고딕340"/>
              </a:rPr>
              <a:t> </a:t>
            </a:r>
            <a:r>
              <a:rPr lang="ko-KR" altLang="en-US" sz="1900" b="1">
                <a:latin typeface="-윤고딕340"/>
                <a:ea typeface="-윤고딕340"/>
              </a:rPr>
              <a:t>효율적인 정보 수집 환경 제공</a:t>
            </a:r>
          </a:p>
        </p:txBody>
      </p:sp>
      <p:sp>
        <p:nvSpPr>
          <p:cNvPr id="33" name="화살표: 오른쪽 32"/>
          <p:cNvSpPr/>
          <p:nvPr/>
        </p:nvSpPr>
        <p:spPr>
          <a:xfrm>
            <a:off x="4139946" y="1849374"/>
            <a:ext cx="1008126" cy="93611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00000"/>
          </a:solidFill>
          <a:ln w="25400" algn="ctr">
            <a:noFill/>
            <a:prstDash val="sysDash"/>
          </a:ln>
          <a:effectLst>
            <a:outerShdw blurRad="76200" dist="76200" dir="81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/>
          <p:cNvSpPr/>
          <p:nvPr/>
        </p:nvSpPr>
        <p:spPr>
          <a:xfrm>
            <a:off x="611505" y="2236464"/>
            <a:ext cx="7825777" cy="3069342"/>
          </a:xfrm>
          <a:prstGeom prst="roundRect">
            <a:avLst>
              <a:gd name="adj" fmla="val 16667"/>
            </a:avLst>
          </a:prstGeom>
          <a:solidFill>
            <a:srgbClr val="26A0E6">
              <a:alpha val="39000"/>
            </a:srgb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20" name="그림 2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22439" y="2808389"/>
            <a:ext cx="1417282" cy="1417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124000" y="720000"/>
            <a:ext cx="6192000" cy="34861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프로젝트 개발 환경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1110327" y="4350532"/>
            <a:ext cx="7326954" cy="514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en-US" altLang="ko-KR" sz="2800" dirty="0">
                <a:solidFill>
                  <a:schemeClr val="bg1"/>
                </a:solidFill>
                <a:latin typeface="배달의민족 도현"/>
                <a:ea typeface="배달의민족 도현"/>
              </a:rPr>
              <a:t>HTML</a:t>
            </a:r>
            <a:r>
              <a:rPr lang="ko-KR" altLang="en-US" sz="2800" dirty="0">
                <a:solidFill>
                  <a:schemeClr val="bg1"/>
                </a:solidFill>
                <a:latin typeface="배달의민족 도현"/>
                <a:ea typeface="배달의민족 도현"/>
              </a:rPr>
              <a:t>     </a:t>
            </a:r>
            <a:r>
              <a:rPr lang="en-US" altLang="ko-KR" sz="2800" dirty="0">
                <a:solidFill>
                  <a:schemeClr val="bg1"/>
                </a:solidFill>
                <a:latin typeface="배달의민족 도현"/>
                <a:ea typeface="배달의민족 도현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배달의민족 도현"/>
                <a:ea typeface="배달의민족 도현"/>
              </a:rPr>
              <a:t> </a:t>
            </a:r>
            <a:r>
              <a:rPr lang="en-US" altLang="ko-KR" sz="2800" dirty="0">
                <a:solidFill>
                  <a:schemeClr val="bg1"/>
                </a:solidFill>
                <a:latin typeface="배달의민족 도현"/>
                <a:ea typeface="배달의민족 도현"/>
              </a:rPr>
              <a:t>CSS  </a:t>
            </a:r>
            <a:r>
              <a:rPr lang="en-US" altLang="ko-KR" dirty="0">
                <a:solidFill>
                  <a:schemeClr val="bg1"/>
                </a:solidFill>
                <a:latin typeface="배달의민족 도현"/>
                <a:ea typeface="배달의민족 도현"/>
              </a:rPr>
              <a:t>    </a:t>
            </a:r>
            <a:r>
              <a:rPr lang="en-US" altLang="ko-KR" sz="2800" dirty="0">
                <a:solidFill>
                  <a:schemeClr val="bg1"/>
                </a:solidFill>
                <a:latin typeface="배달의민족 도현"/>
                <a:ea typeface="배달의민족 도현"/>
              </a:rPr>
              <a:t>Java Script    jQuery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2411730" y="1404213"/>
            <a:ext cx="3674601" cy="59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sz="3300" b="1" spc="-137">
                <a:solidFill>
                  <a:schemeClr val="bg2">
                    <a:lumMod val="50000"/>
                  </a:schemeClr>
                </a:solidFill>
                <a:latin typeface="휴먼둥근헤드라인"/>
                <a:ea typeface="휴먼둥근헤드라인"/>
              </a:rPr>
              <a:t> </a:t>
            </a:r>
            <a:r>
              <a:rPr lang="en-US" altLang="ko-KR" sz="3300" b="1" spc="-137">
                <a:solidFill>
                  <a:schemeClr val="bg2">
                    <a:lumMod val="50000"/>
                  </a:schemeClr>
                </a:solidFill>
                <a:latin typeface="휴먼둥근헤드라인"/>
                <a:ea typeface="휴먼둥근헤드라인"/>
              </a:rPr>
              <a:t>Front-end</a:t>
            </a:r>
          </a:p>
        </p:txBody>
      </p:sp>
      <p:pic>
        <p:nvPicPr>
          <p:cNvPr id="17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35692" y="2467997"/>
            <a:ext cx="1636758" cy="2117719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16018" y="3049033"/>
            <a:ext cx="1104628" cy="1104628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00000" y="2808000"/>
            <a:ext cx="1368000" cy="136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/>
          <p:cNvSpPr/>
          <p:nvPr/>
        </p:nvSpPr>
        <p:spPr>
          <a:xfrm>
            <a:off x="611505" y="2236464"/>
            <a:ext cx="7825777" cy="3069342"/>
          </a:xfrm>
          <a:prstGeom prst="roundRect">
            <a:avLst>
              <a:gd name="adj" fmla="val 16667"/>
            </a:avLst>
          </a:prstGeom>
          <a:solidFill>
            <a:srgbClr val="26A0E6">
              <a:alpha val="39000"/>
            </a:srgb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124000" y="720000"/>
            <a:ext cx="6192000" cy="34861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프로젝트 개발 환경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1110327" y="4350532"/>
            <a:ext cx="879033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en-US" altLang="ko-KR" sz="2700" dirty="0">
                <a:solidFill>
                  <a:schemeClr val="bg1"/>
                </a:solidFill>
                <a:latin typeface="배달의민족 도현"/>
                <a:ea typeface="배달의민족 도현"/>
              </a:rPr>
              <a:t>python</a:t>
            </a:r>
            <a:r>
              <a:rPr lang="ko-KR" altLang="en-US" sz="2700" dirty="0">
                <a:solidFill>
                  <a:schemeClr val="bg1"/>
                </a:solidFill>
                <a:latin typeface="배달의민족 도현"/>
                <a:ea typeface="배달의민족 도현"/>
              </a:rPr>
              <a:t> </a:t>
            </a:r>
            <a:r>
              <a:rPr lang="en-US" altLang="ko-KR" sz="2700" dirty="0">
                <a:solidFill>
                  <a:schemeClr val="bg1"/>
                </a:solidFill>
                <a:latin typeface="배달의민족 도현"/>
                <a:ea typeface="배달의민족 도현"/>
              </a:rPr>
              <a:t> </a:t>
            </a:r>
            <a:r>
              <a:rPr lang="ko-KR" altLang="en-US" sz="2700" dirty="0">
                <a:solidFill>
                  <a:schemeClr val="bg1"/>
                </a:solidFill>
                <a:latin typeface="배달의민족 도현"/>
                <a:ea typeface="배달의민족 도현"/>
              </a:rPr>
              <a:t> </a:t>
            </a:r>
            <a:r>
              <a:rPr lang="en-US" altLang="ko-KR" sz="2700" dirty="0">
                <a:solidFill>
                  <a:schemeClr val="bg1"/>
                </a:solidFill>
                <a:latin typeface="배달의민족 도현"/>
                <a:ea typeface="배달의민족 도현"/>
              </a:rPr>
              <a:t>          Java             spring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2411730" y="1404213"/>
            <a:ext cx="3674601" cy="59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sz="3300" b="1" spc="-137">
                <a:solidFill>
                  <a:srgbClr val="C90000"/>
                </a:solidFill>
                <a:latin typeface="휴먼둥근헤드라인"/>
                <a:ea typeface="휴먼둥근헤드라인"/>
              </a:rPr>
              <a:t> </a:t>
            </a:r>
            <a:r>
              <a:rPr lang="en-US" altLang="ko-KR" sz="3300" b="1" spc="-137">
                <a:solidFill>
                  <a:srgbClr val="C90000"/>
                </a:solidFill>
                <a:latin typeface="휴먼둥근헤드라인"/>
                <a:ea typeface="휴먼둥근헤드라인"/>
              </a:rPr>
              <a:t>Back-end</a:t>
            </a:r>
          </a:p>
        </p:txBody>
      </p:sp>
      <p:pic>
        <p:nvPicPr>
          <p:cNvPr id="26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7487" y="2857500"/>
            <a:ext cx="2578088" cy="1451626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35883" y="2855193"/>
            <a:ext cx="1226459" cy="12264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15722EC-91BF-A1DC-C743-ACA742DEE4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207" y="2855192"/>
            <a:ext cx="2214928" cy="122645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/>
          <p:cNvSpPr/>
          <p:nvPr/>
        </p:nvSpPr>
        <p:spPr>
          <a:xfrm>
            <a:off x="611505" y="2236464"/>
            <a:ext cx="7825777" cy="3069342"/>
          </a:xfrm>
          <a:prstGeom prst="roundRect">
            <a:avLst>
              <a:gd name="adj" fmla="val 16667"/>
            </a:avLst>
          </a:prstGeom>
          <a:solidFill>
            <a:srgbClr val="26A0E6">
              <a:alpha val="39000"/>
            </a:srgb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124000" y="720000"/>
            <a:ext cx="6192000" cy="34861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프로젝트 개발 환경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1110327" y="4350532"/>
            <a:ext cx="8790339" cy="49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en-US" altLang="ko-KR" sz="2700">
                <a:solidFill>
                  <a:schemeClr val="bg1"/>
                </a:solidFill>
                <a:latin typeface="배달의민족 도현"/>
                <a:ea typeface="배달의민족 도현"/>
              </a:rPr>
              <a:t>MySQL</a:t>
            </a:r>
            <a:r>
              <a:rPr lang="ko-KR" altLang="en-US" sz="2700">
                <a:solidFill>
                  <a:schemeClr val="bg1"/>
                </a:solidFill>
                <a:latin typeface="배달의민족 도현"/>
                <a:ea typeface="배달의민족 도현"/>
              </a:rPr>
              <a:t> </a:t>
            </a:r>
            <a:r>
              <a:rPr lang="en-US" altLang="ko-KR" sz="2700">
                <a:solidFill>
                  <a:schemeClr val="bg1"/>
                </a:solidFill>
                <a:latin typeface="배달의민족 도현"/>
                <a:ea typeface="배달의민족 도현"/>
              </a:rPr>
              <a:t>          Tomcat       Raspberry Pi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2411730" y="1404213"/>
            <a:ext cx="3674601" cy="59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sz="3300" b="1" spc="-137">
                <a:solidFill>
                  <a:srgbClr val="C90000"/>
                </a:solidFill>
                <a:latin typeface="휴먼둥근헤드라인"/>
                <a:ea typeface="휴먼둥근헤드라인"/>
              </a:rPr>
              <a:t> </a:t>
            </a:r>
            <a:r>
              <a:rPr lang="en-US" altLang="ko-KR" sz="3300" b="1" spc="-137">
                <a:solidFill>
                  <a:srgbClr val="C90000"/>
                </a:solidFill>
                <a:latin typeface="휴먼둥근헤드라인"/>
                <a:ea typeface="휴먼둥근헤드라인"/>
              </a:rPr>
              <a:t>Back-end</a:t>
            </a:r>
          </a:p>
        </p:txBody>
      </p:sp>
      <p:pic>
        <p:nvPicPr>
          <p:cNvPr id="28" name="그림 1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15568" y="2929509"/>
            <a:ext cx="1312454" cy="1312454"/>
          </a:xfrm>
          <a:prstGeom prst="rect">
            <a:avLst/>
          </a:prstGeom>
        </p:spPr>
      </p:pic>
      <p:pic>
        <p:nvPicPr>
          <p:cNvPr id="29" name="그림 2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12180" y="2990238"/>
            <a:ext cx="2037833" cy="1307442"/>
          </a:xfrm>
          <a:prstGeom prst="rect">
            <a:avLst/>
          </a:prstGeom>
        </p:spPr>
      </p:pic>
      <p:pic>
        <p:nvPicPr>
          <p:cNvPr id="30" name="그림 2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928048" y="2999232"/>
            <a:ext cx="2724087" cy="15144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/>
          <p:cNvSpPr/>
          <p:nvPr/>
        </p:nvSpPr>
        <p:spPr>
          <a:xfrm>
            <a:off x="611505" y="2236464"/>
            <a:ext cx="7825777" cy="3069342"/>
          </a:xfrm>
          <a:prstGeom prst="roundRect">
            <a:avLst>
              <a:gd name="adj" fmla="val 16667"/>
            </a:avLst>
          </a:prstGeom>
          <a:solidFill>
            <a:srgbClr val="26A0E6">
              <a:alpha val="39000"/>
            </a:srgb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124000" y="720000"/>
            <a:ext cx="6192000" cy="34861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프로젝트 개발 환경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971550" y="4350532"/>
            <a:ext cx="8790339" cy="448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en-US" altLang="ko-KR" sz="2400">
                <a:solidFill>
                  <a:schemeClr val="bg1"/>
                </a:solidFill>
                <a:latin typeface="배달의민족 도현"/>
                <a:ea typeface="배달의민족 도현"/>
              </a:rPr>
              <a:t>Git/Git Hub</a:t>
            </a:r>
            <a:r>
              <a:rPr lang="ko-KR" altLang="en-US" sz="2400">
                <a:solidFill>
                  <a:schemeClr val="bg1"/>
                </a:solidFill>
                <a:latin typeface="배달의민족 도현"/>
                <a:ea typeface="배달의민족 도현"/>
              </a:rPr>
              <a:t> </a:t>
            </a:r>
            <a:r>
              <a:rPr lang="en-US" altLang="ko-KR" sz="2400">
                <a:solidFill>
                  <a:schemeClr val="bg1"/>
                </a:solidFill>
                <a:latin typeface="배달의민족 도현"/>
                <a:ea typeface="배달의민족 도현"/>
              </a:rPr>
              <a:t>       Kakao Talk</a:t>
            </a:r>
            <a:r>
              <a:rPr lang="ko-KR" altLang="en-US" sz="2400">
                <a:solidFill>
                  <a:schemeClr val="bg1"/>
                </a:solidFill>
                <a:latin typeface="배달의민족 도현"/>
                <a:ea typeface="배달의민족 도현"/>
              </a:rPr>
              <a:t>      </a:t>
            </a:r>
            <a:r>
              <a:rPr lang="en-US" altLang="ko-KR" sz="2400">
                <a:solidFill>
                  <a:schemeClr val="bg1"/>
                </a:solidFill>
                <a:latin typeface="배달의민족 도현"/>
                <a:ea typeface="배달의민족 도현"/>
              </a:rPr>
              <a:t>Google Calendar  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1979676" y="1417320"/>
            <a:ext cx="4968621" cy="594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3300" b="1" spc="-137">
                <a:solidFill>
                  <a:srgbClr val="26A0E6"/>
                </a:solidFill>
                <a:latin typeface="휴먼둥근헤드라인"/>
                <a:ea typeface="휴먼둥근헤드라인"/>
              </a:rPr>
              <a:t>Collaboration Tool</a:t>
            </a:r>
            <a:r>
              <a:rPr lang="ko-KR" altLang="en-US" sz="3300" b="1" spc="-137">
                <a:solidFill>
                  <a:srgbClr val="26A0E6"/>
                </a:solidFill>
                <a:latin typeface="휴먼둥근헤드라인"/>
                <a:ea typeface="휴먼둥근헤드라인"/>
              </a:rPr>
              <a:t> </a:t>
            </a: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2813" y="2868192"/>
            <a:ext cx="2863024" cy="1429487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49002" y="2940201"/>
            <a:ext cx="1429969" cy="1296162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44234" y="3022421"/>
            <a:ext cx="1141933" cy="114193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4000" y="720000"/>
            <a:ext cx="6192000" cy="34861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프로젝트 개별 포지션</a:t>
            </a:r>
          </a:p>
        </p:txBody>
      </p:sp>
      <p:sp>
        <p:nvSpPr>
          <p:cNvPr id="11" name="사각형: 둥근 모서리 10"/>
          <p:cNvSpPr/>
          <p:nvPr/>
        </p:nvSpPr>
        <p:spPr>
          <a:xfrm>
            <a:off x="1979640" y="1354634"/>
            <a:ext cx="4113912" cy="2103170"/>
          </a:xfrm>
          <a:prstGeom prst="roundRect">
            <a:avLst>
              <a:gd name="adj" fmla="val 16667"/>
            </a:avLst>
          </a:prstGeom>
          <a:solidFill>
            <a:schemeClr val="bg1">
              <a:lumMod val="80000"/>
              <a:alpha val="59000"/>
            </a:schemeClr>
          </a:solid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440" y="1354634"/>
            <a:ext cx="1358848" cy="1358848"/>
          </a:xfrm>
          <a:prstGeom prst="rect">
            <a:avLst/>
          </a:prstGeom>
        </p:spPr>
      </p:pic>
      <p:grpSp>
        <p:nvGrpSpPr>
          <p:cNvPr id="33" name="그룹 32"/>
          <p:cNvGrpSpPr/>
          <p:nvPr/>
        </p:nvGrpSpPr>
        <p:grpSpPr>
          <a:xfrm>
            <a:off x="2051650" y="1534928"/>
            <a:ext cx="4511916" cy="775503"/>
            <a:chOff x="1358197" y="1457658"/>
            <a:chExt cx="2992902" cy="419668"/>
          </a:xfrm>
        </p:grpSpPr>
        <p:sp>
          <p:nvSpPr>
            <p:cNvPr id="34" name="TextBox 33"/>
            <p:cNvSpPr txBox="1"/>
            <p:nvPr/>
          </p:nvSpPr>
          <p:spPr>
            <a:xfrm>
              <a:off x="1962769" y="1504965"/>
              <a:ext cx="2388330" cy="241505"/>
            </a:xfrm>
            <a:prstGeom prst="rect">
              <a:avLst/>
            </a:prstGeom>
          </p:spPr>
          <p:txBody>
            <a:bodyPr vert="horz" wrap="square" lIns="91440" tIns="45720" rIns="91440" bIns="45720" anchor="t">
              <a:spAutoFit/>
            </a:bodyPr>
            <a:lstStyle/>
            <a:p>
              <a:pPr>
                <a:defRPr lang="ko-KR" altLang="en-US"/>
              </a:pPr>
              <a:r>
                <a:rPr lang="ko-KR" altLang="en-US" sz="2300" dirty="0">
                  <a:solidFill>
                    <a:schemeClr val="tx1"/>
                  </a:solidFill>
                  <a:latin typeface="휴먼둥근헤드라인"/>
                  <a:ea typeface="휴먼둥근헤드라인"/>
                </a:rPr>
                <a:t>정영탁</a:t>
              </a:r>
            </a:p>
          </p:txBody>
        </p:sp>
        <p:pic>
          <p:nvPicPr>
            <p:cNvPr id="35" name="그림 34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1358197" y="1457658"/>
              <a:ext cx="479620" cy="419668"/>
            </a:xfrm>
            <a:prstGeom prst="rect">
              <a:avLst/>
            </a:prstGeom>
          </p:spPr>
        </p:pic>
      </p:grpSp>
      <p:sp>
        <p:nvSpPr>
          <p:cNvPr id="40" name="직사각형 39"/>
          <p:cNvSpPr/>
          <p:nvPr/>
        </p:nvSpPr>
        <p:spPr>
          <a:xfrm>
            <a:off x="2963066" y="2068622"/>
            <a:ext cx="3492109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lang="ko-KR" altLang="en-US"/>
            </a:pPr>
            <a:r>
              <a:rPr lang="ko-KR" altLang="en-US" sz="1700" b="0" i="0" dirty="0">
                <a:solidFill>
                  <a:srgbClr val="000000">
                    <a:alpha val="100000"/>
                  </a:srgbClr>
                </a:solidFill>
                <a:latin typeface="-윤고딕340"/>
                <a:ea typeface="-윤고딕340"/>
              </a:rPr>
              <a:t>◾ 회원가입</a:t>
            </a:r>
          </a:p>
          <a:p>
            <a:pPr algn="l">
              <a:defRPr lang="ko-KR" altLang="en-US"/>
            </a:pPr>
            <a:endParaRPr lang="ko-KR" altLang="en-US" sz="300" b="0" i="0" dirty="0">
              <a:solidFill>
                <a:srgbClr val="000000">
                  <a:alpha val="100000"/>
                </a:srgbClr>
              </a:solidFill>
              <a:latin typeface="-윤고딕340"/>
              <a:ea typeface="-윤고딕340"/>
            </a:endParaRPr>
          </a:p>
          <a:p>
            <a:pPr algn="l">
              <a:defRPr lang="ko-KR" altLang="en-US"/>
            </a:pPr>
            <a:r>
              <a:rPr lang="ko-KR" altLang="en-US" sz="1700" b="0" i="0" dirty="0">
                <a:solidFill>
                  <a:srgbClr val="000000">
                    <a:alpha val="100000"/>
                  </a:srgbClr>
                </a:solidFill>
                <a:latin typeface="-윤고딕340"/>
                <a:ea typeface="-윤고딕340"/>
              </a:rPr>
              <a:t>◾ 로그인</a:t>
            </a:r>
          </a:p>
          <a:p>
            <a:pPr algn="l">
              <a:defRPr lang="ko-KR" altLang="en-US"/>
            </a:pPr>
            <a:endParaRPr lang="ko-KR" altLang="en-US" sz="300" b="0" i="0" dirty="0">
              <a:solidFill>
                <a:srgbClr val="000000">
                  <a:alpha val="100000"/>
                </a:srgbClr>
              </a:solidFill>
              <a:latin typeface="-윤고딕340"/>
              <a:ea typeface="-윤고딕340"/>
            </a:endParaRPr>
          </a:p>
          <a:p>
            <a:pPr algn="l">
              <a:defRPr lang="ko-KR" altLang="en-US"/>
            </a:pPr>
            <a:endParaRPr lang="ko-KR" altLang="en-US" sz="300" b="0" i="0" dirty="0">
              <a:solidFill>
                <a:srgbClr val="000000">
                  <a:alpha val="100000"/>
                </a:srgbClr>
              </a:solidFill>
              <a:latin typeface="-윤고딕340"/>
              <a:ea typeface="-윤고딕340"/>
            </a:endParaRPr>
          </a:p>
          <a:p>
            <a:pPr algn="l">
              <a:defRPr lang="ko-KR" altLang="en-US"/>
            </a:pPr>
            <a:r>
              <a:rPr lang="ko-KR" altLang="en-US" sz="1700" b="0" i="0" dirty="0">
                <a:solidFill>
                  <a:srgbClr val="000000">
                    <a:alpha val="100000"/>
                  </a:srgbClr>
                </a:solidFill>
                <a:latin typeface="-윤고딕340"/>
                <a:ea typeface="-윤고딕340"/>
              </a:rPr>
              <a:t>◾ </a:t>
            </a:r>
            <a:r>
              <a:rPr lang="en-US" altLang="ko-KR" sz="1700" b="0" i="0" dirty="0">
                <a:solidFill>
                  <a:srgbClr val="000000">
                    <a:alpha val="100000"/>
                  </a:srgbClr>
                </a:solidFill>
                <a:latin typeface="-윤고딕340"/>
                <a:ea typeface="-윤고딕340"/>
              </a:rPr>
              <a:t>UI</a:t>
            </a:r>
            <a:r>
              <a:rPr lang="ko-KR" altLang="en-US" sz="1700" b="0" i="0" dirty="0">
                <a:solidFill>
                  <a:srgbClr val="000000">
                    <a:alpha val="100000"/>
                  </a:srgbClr>
                </a:solidFill>
                <a:latin typeface="-윤고딕340"/>
                <a:ea typeface="-윤고딕340"/>
              </a:rPr>
              <a:t>디자인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/>
          <p:cNvGrpSpPr/>
          <p:nvPr/>
        </p:nvGrpSpPr>
        <p:grpSpPr>
          <a:xfrm>
            <a:off x="564041" y="1485518"/>
            <a:ext cx="4392549" cy="3636645"/>
            <a:chOff x="395478" y="1561338"/>
            <a:chExt cx="4392549" cy="3636645"/>
          </a:xfrm>
        </p:grpSpPr>
        <p:sp>
          <p:nvSpPr>
            <p:cNvPr id="11" name="직사각형 10"/>
            <p:cNvSpPr/>
            <p:nvPr/>
          </p:nvSpPr>
          <p:spPr>
            <a:xfrm>
              <a:off x="439784" y="1561338"/>
              <a:ext cx="3744468" cy="504063"/>
            </a:xfrm>
            <a:prstGeom prst="rect">
              <a:avLst/>
            </a:prstGeom>
            <a:solidFill>
              <a:srgbClr val="26A0E6"/>
            </a:solidFill>
            <a:ln algn="ctr"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algn="ctr">
                <a:defRPr lang="ko-KR" altLang="en-US"/>
              </a:pPr>
              <a:endParaRPr lang="ko-KR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47621" y="1584027"/>
              <a:ext cx="2063706" cy="430887"/>
            </a:xfrm>
            <a:prstGeom prst="rect">
              <a:avLst/>
            </a:prstGeom>
          </p:spPr>
          <p:txBody>
            <a:bodyPr vert="horz" wrap="square" lIns="91440" tIns="45720" rIns="91440" bIns="45720" anchor="t">
              <a:spAutoFit/>
            </a:bodyPr>
            <a:lstStyle/>
            <a:p>
              <a:pPr>
                <a:defRPr lang="ko-KR" altLang="en-US"/>
              </a:pPr>
              <a:r>
                <a:rPr lang="en-US" altLang="ko-KR" sz="2200" dirty="0">
                  <a:solidFill>
                    <a:schemeClr val="bg1"/>
                  </a:solidFill>
                  <a:latin typeface="휴먼둥근헤드라인"/>
                  <a:ea typeface="휴먼둥근헤드라인"/>
                </a:rPr>
                <a:t>December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5478" y="1921383"/>
              <a:ext cx="4392549" cy="544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en-US" altLang="ko-KR" b="1" dirty="0">
                  <a:latin typeface="-윤고딕340"/>
                  <a:ea typeface="-윤고딕340"/>
                </a:rPr>
                <a:t>SUN</a:t>
              </a:r>
              <a:r>
                <a:rPr lang="en-US" altLang="ko-KR" sz="3000" b="1" dirty="0">
                  <a:latin typeface="-윤고딕340"/>
                  <a:ea typeface="-윤고딕340"/>
                </a:rPr>
                <a:t> </a:t>
              </a:r>
              <a:r>
                <a:rPr lang="en-US" altLang="ko-KR" b="1" dirty="0">
                  <a:latin typeface="-윤고딕340"/>
                  <a:ea typeface="-윤고딕340"/>
                </a:rPr>
                <a:t>MON</a:t>
              </a:r>
              <a:r>
                <a:rPr lang="en-US" altLang="ko-KR" sz="3000" b="1" dirty="0">
                  <a:latin typeface="-윤고딕340"/>
                  <a:ea typeface="-윤고딕340"/>
                </a:rPr>
                <a:t> </a:t>
              </a:r>
              <a:r>
                <a:rPr lang="en-US" altLang="ko-KR" b="1" dirty="0">
                  <a:latin typeface="-윤고딕340"/>
                  <a:ea typeface="-윤고딕340"/>
                </a:rPr>
                <a:t>TUE</a:t>
              </a:r>
              <a:r>
                <a:rPr lang="en-US" altLang="ko-KR" sz="3000" b="1" dirty="0">
                  <a:latin typeface="-윤고딕340"/>
                  <a:ea typeface="-윤고딕340"/>
                </a:rPr>
                <a:t> </a:t>
              </a:r>
              <a:r>
                <a:rPr lang="en-US" altLang="ko-KR" b="1" dirty="0">
                  <a:latin typeface="-윤고딕340"/>
                  <a:ea typeface="-윤고딕340"/>
                </a:rPr>
                <a:t>WED</a:t>
              </a:r>
              <a:r>
                <a:rPr lang="en-US" altLang="ko-KR" sz="3000" b="1" dirty="0">
                  <a:latin typeface="-윤고딕340"/>
                  <a:ea typeface="-윤고딕340"/>
                </a:rPr>
                <a:t> </a:t>
              </a:r>
              <a:r>
                <a:rPr lang="en-US" altLang="ko-KR" b="1" dirty="0">
                  <a:latin typeface="-윤고딕340"/>
                  <a:ea typeface="-윤고딕340"/>
                </a:rPr>
                <a:t>THU</a:t>
              </a:r>
              <a:r>
                <a:rPr lang="en-US" altLang="ko-KR" sz="3000" b="1" dirty="0">
                  <a:latin typeface="-윤고딕340"/>
                  <a:ea typeface="-윤고딕340"/>
                </a:rPr>
                <a:t> </a:t>
              </a:r>
              <a:r>
                <a:rPr lang="en-US" altLang="ko-KR" b="1" dirty="0">
                  <a:latin typeface="-윤고딕340"/>
                  <a:ea typeface="-윤고딕340"/>
                </a:rPr>
                <a:t>FRI</a:t>
              </a:r>
              <a:r>
                <a:rPr lang="en-US" altLang="ko-KR" sz="3000" b="1" dirty="0">
                  <a:latin typeface="-윤고딕340"/>
                  <a:ea typeface="-윤고딕340"/>
                </a:rPr>
                <a:t> </a:t>
              </a:r>
              <a:r>
                <a:rPr lang="en-US" altLang="ko-KR" b="1" dirty="0">
                  <a:latin typeface="-윤고딕340"/>
                  <a:ea typeface="-윤고딕340"/>
                </a:rPr>
                <a:t>SAT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5329" y="2533269"/>
              <a:ext cx="4320540" cy="3962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en-US" altLang="ko-KR" sz="2000" b="1" dirty="0"/>
                <a:t> 1     2      3      4      5</a:t>
              </a:r>
              <a:r>
                <a:rPr lang="en-US" altLang="ko-KR" sz="2000" b="1" dirty="0">
                  <a:solidFill>
                    <a:srgbClr val="26A0E6"/>
                  </a:solidFill>
                </a:rPr>
                <a:t>       6</a:t>
              </a:r>
              <a:r>
                <a:rPr lang="en-US" altLang="ko-KR" sz="2000" b="1" dirty="0"/>
                <a:t>     </a:t>
              </a:r>
              <a:r>
                <a:rPr lang="en-US" altLang="ko-KR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7</a:t>
              </a:r>
              <a:r>
                <a:rPr lang="en-US" altLang="ko-KR" sz="2000" b="1" dirty="0"/>
                <a:t>      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7487" y="3073527"/>
              <a:ext cx="4320540" cy="3962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en-US" altLang="ko-KR" sz="2000" b="1" dirty="0"/>
                <a:t> </a:t>
              </a:r>
              <a:r>
                <a:rPr lang="en-US" altLang="ko-KR" sz="2000" b="1" dirty="0">
                  <a:solidFill>
                    <a:srgbClr val="C90000"/>
                  </a:solidFill>
                </a:rPr>
                <a:t>8</a:t>
              </a:r>
              <a:r>
                <a:rPr lang="en-US" altLang="ko-KR" sz="2000" b="1" dirty="0"/>
                <a:t> </a:t>
              </a:r>
              <a:r>
                <a:rPr lang="en-US" altLang="ko-KR" b="1" dirty="0"/>
                <a:t>  </a:t>
              </a:r>
              <a:r>
                <a:rPr lang="en-US" altLang="ko-KR" sz="2000" b="1" dirty="0"/>
                <a:t>  9     10    11    12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2000" b="1" dirty="0">
                  <a:solidFill>
                    <a:srgbClr val="26A0E6"/>
                  </a:solidFill>
                </a:rPr>
                <a:t>    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1</a:t>
              </a:r>
              <a:r>
                <a:rPr lang="en-US" altLang="ko-KR" sz="2000" b="1" dirty="0"/>
                <a:t>3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b="1" dirty="0">
                  <a:solidFill>
                    <a:srgbClr val="26A0E6"/>
                  </a:solidFill>
                </a:rPr>
                <a:t>   </a:t>
              </a:r>
              <a:r>
                <a:rPr lang="en-US" altLang="ko-KR" sz="2000" b="1" dirty="0">
                  <a:solidFill>
                    <a:srgbClr val="26A0E6"/>
                  </a:solidFill>
                </a:rPr>
                <a:t>14</a:t>
              </a:r>
              <a:r>
                <a:rPr lang="en-US" altLang="ko-KR" sz="2000" b="1" dirty="0"/>
                <a:t>       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5478" y="4219956"/>
              <a:ext cx="4320540" cy="4462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en-US" altLang="ko-KR" sz="2000" b="1" dirty="0"/>
                <a:t> </a:t>
              </a:r>
              <a:r>
                <a:rPr lang="en-US" altLang="ko-KR" sz="2000" b="1" dirty="0">
                  <a:solidFill>
                    <a:srgbClr val="C90000"/>
                  </a:solidFill>
                </a:rPr>
                <a:t>22</a:t>
              </a:r>
              <a:r>
                <a:rPr lang="en-US" altLang="ko-KR" sz="2000" b="1" dirty="0"/>
                <a:t>   23    24    25    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26 </a:t>
              </a:r>
              <a:r>
                <a:rPr lang="en-US" altLang="ko-KR" sz="2000" b="1" dirty="0"/>
                <a:t>    27 </a:t>
              </a:r>
              <a:r>
                <a:rPr lang="en-US" altLang="ko-KR" sz="2300" b="1" dirty="0"/>
                <a:t>  </a:t>
              </a:r>
              <a:r>
                <a:rPr lang="en-US" altLang="ko-KR" sz="2000" b="1" dirty="0">
                  <a:solidFill>
                    <a:srgbClr val="26A0E6"/>
                  </a:solidFill>
                </a:rPr>
                <a:t>28 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5478" y="3685413"/>
              <a:ext cx="432054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en-US" altLang="ko-KR" sz="2000" b="1" dirty="0">
                  <a:solidFill>
                    <a:srgbClr val="C90000"/>
                  </a:solidFill>
                </a:rPr>
                <a:t> 15</a:t>
              </a:r>
              <a:r>
                <a:rPr lang="en-US" altLang="ko-KR" sz="2000" b="1" dirty="0"/>
                <a:t>   16    17    18  </a:t>
              </a:r>
              <a:r>
                <a:rPr lang="en-US" altLang="ko-KR" sz="2000" b="1" dirty="0" err="1">
                  <a:solidFill>
                    <a:srgbClr val="FF0000"/>
                  </a:solidFill>
                </a:rPr>
                <a:t>d-day</a:t>
              </a:r>
              <a:r>
                <a:rPr lang="en-US" altLang="ko-KR" sz="2000" b="1" dirty="0">
                  <a:solidFill>
                    <a:srgbClr val="26A0E6"/>
                  </a:solidFill>
                </a:rPr>
                <a:t>  </a:t>
              </a:r>
              <a:r>
                <a:rPr lang="en-US" altLang="ko-KR" sz="2000" b="1" dirty="0"/>
                <a:t>20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b="1" dirty="0">
                  <a:solidFill>
                    <a:srgbClr val="26A0E6"/>
                  </a:solidFill>
                </a:rPr>
                <a:t>   </a:t>
              </a:r>
              <a:r>
                <a:rPr lang="en-US" altLang="ko-KR" sz="2000" b="1" dirty="0">
                  <a:solidFill>
                    <a:srgbClr val="26A0E6"/>
                  </a:solidFill>
                </a:rPr>
                <a:t>21</a:t>
              </a:r>
              <a:r>
                <a:rPr lang="en-US" altLang="ko-KR" sz="2000" b="1" dirty="0"/>
                <a:t>       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5478" y="4801743"/>
              <a:ext cx="4320540" cy="3962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en-US" altLang="ko-KR" sz="2000" b="1" dirty="0"/>
                <a:t> </a:t>
              </a:r>
              <a:r>
                <a:rPr lang="en-US" altLang="ko-KR" sz="2000" b="1" dirty="0">
                  <a:solidFill>
                    <a:srgbClr val="C90000"/>
                  </a:solidFill>
                </a:rPr>
                <a:t>29</a:t>
              </a:r>
              <a:r>
                <a:rPr lang="en-US" altLang="ko-KR" sz="2000" b="1" dirty="0"/>
                <a:t>   30    31               </a:t>
              </a:r>
            </a:p>
          </p:txBody>
        </p:sp>
        <p:cxnSp>
          <p:nvCxnSpPr>
            <p:cNvPr id="23" name="직선 화살표 연결선 19"/>
            <p:cNvCxnSpPr/>
            <p:nvPr/>
          </p:nvCxnSpPr>
          <p:spPr>
            <a:xfrm>
              <a:off x="465329" y="2954335"/>
              <a:ext cx="3816477" cy="0"/>
            </a:xfrm>
            <a:prstGeom prst="straightConnector1">
              <a:avLst/>
            </a:prstGeom>
            <a:ln w="76200">
              <a:solidFill>
                <a:schemeClr val="tx2">
                  <a:lumMod val="60000"/>
                  <a:lumOff val="4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/>
            <p:cNvCxnSpPr/>
            <p:nvPr/>
          </p:nvCxnSpPr>
          <p:spPr>
            <a:xfrm>
              <a:off x="467487" y="3558355"/>
              <a:ext cx="3816477" cy="0"/>
            </a:xfrm>
            <a:prstGeom prst="straightConnector1">
              <a:avLst/>
            </a:prstGeom>
            <a:ln w="76200">
              <a:solidFill>
                <a:schemeClr val="tx2">
                  <a:lumMod val="60000"/>
                  <a:lumOff val="4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/>
            <p:nvPr/>
          </p:nvCxnSpPr>
          <p:spPr>
            <a:xfrm>
              <a:off x="511101" y="4187572"/>
              <a:ext cx="2692728" cy="0"/>
            </a:xfrm>
            <a:prstGeom prst="straightConnector1">
              <a:avLst/>
            </a:prstGeom>
            <a:ln w="76200">
              <a:solidFill>
                <a:schemeClr val="tx2">
                  <a:lumMod val="60000"/>
                  <a:lumOff val="4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/>
          <p:cNvGrpSpPr/>
          <p:nvPr/>
        </p:nvGrpSpPr>
        <p:grpSpPr>
          <a:xfrm>
            <a:off x="4736442" y="1561338"/>
            <a:ext cx="4084089" cy="3744468"/>
            <a:chOff x="4572000" y="1561338"/>
            <a:chExt cx="4084089" cy="3744468"/>
          </a:xfrm>
        </p:grpSpPr>
        <p:sp>
          <p:nvSpPr>
            <p:cNvPr id="35" name="사각형: 둥근 모서리 34"/>
            <p:cNvSpPr/>
            <p:nvPr/>
          </p:nvSpPr>
          <p:spPr>
            <a:xfrm>
              <a:off x="4572000" y="1561338"/>
              <a:ext cx="3888486" cy="3744468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80000"/>
                <a:alpha val="59000"/>
              </a:schemeClr>
            </a:solidFill>
            <a:ln algn="ctr"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algn="ctr">
                <a:defRPr lang="ko-KR" altLang="en-US"/>
              </a:pPr>
              <a:endParaRPr lang="ko-KR" altLang="en-US"/>
            </a:p>
          </p:txBody>
        </p:sp>
        <p:grpSp>
          <p:nvGrpSpPr>
            <p:cNvPr id="37" name="그룹 36"/>
            <p:cNvGrpSpPr/>
            <p:nvPr/>
          </p:nvGrpSpPr>
          <p:grpSpPr>
            <a:xfrm>
              <a:off x="4860036" y="1739265"/>
              <a:ext cx="3724044" cy="984123"/>
              <a:chOff x="4788027" y="1633347"/>
              <a:chExt cx="3724044" cy="984123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860036" y="1995297"/>
                <a:ext cx="3652035" cy="6221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70000"/>
                  </a:lnSpc>
                  <a:defRPr lang="ko-KR" altLang="en-US"/>
                </a:pPr>
                <a:r>
                  <a:rPr lang="ko-KR" altLang="en-US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기획 및 역할분담</a:t>
                </a:r>
                <a:r>
                  <a:rPr lang="en-US" altLang="ko-KR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, </a:t>
                </a:r>
                <a:r>
                  <a:rPr lang="ko-KR" altLang="en-US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테이블 설계</a:t>
                </a:r>
              </a:p>
              <a:p>
                <a:pPr>
                  <a:lnSpc>
                    <a:spcPct val="70000"/>
                  </a:lnSpc>
                  <a:defRPr lang="ko-KR" altLang="en-US"/>
                </a:pPr>
                <a:endParaRPr lang="en-US" altLang="ko-KR" sz="400" b="1" spc="-37">
                  <a:solidFill>
                    <a:schemeClr val="tx1"/>
                  </a:solidFill>
                  <a:latin typeface="-윤고딕320"/>
                  <a:ea typeface="-윤고딕320"/>
                </a:endParaRPr>
              </a:p>
              <a:p>
                <a:pPr>
                  <a:lnSpc>
                    <a:spcPct val="70000"/>
                  </a:lnSpc>
                  <a:defRPr lang="ko-KR" altLang="en-US"/>
                </a:pPr>
                <a:r>
                  <a:rPr lang="en-US" altLang="ko-KR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DB</a:t>
                </a:r>
                <a:r>
                  <a:rPr lang="ko-KR" altLang="en-US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서버구축</a:t>
                </a:r>
                <a:r>
                  <a:rPr lang="en-US" altLang="ko-KR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,</a:t>
                </a:r>
                <a:r>
                  <a:rPr lang="ko-KR" altLang="en-US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 디자인 컨셉</a:t>
                </a:r>
              </a:p>
            </p:txBody>
          </p:sp>
          <p:sp>
            <p:nvSpPr>
              <p:cNvPr id="28" name="TextBox 33"/>
              <p:cNvSpPr txBox="1"/>
              <p:nvPr/>
            </p:nvSpPr>
            <p:spPr>
              <a:xfrm>
                <a:off x="4788027" y="1633347"/>
                <a:ext cx="1584198" cy="412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 lang="ko-KR" altLang="en-US"/>
                </a:pPr>
                <a:r>
                  <a:rPr lang="ko-KR" altLang="en-US" sz="1700" b="1" spc="-14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-윤고딕340"/>
                    <a:ea typeface="-윤고딕340"/>
                  </a:rPr>
                  <a:t>▶</a:t>
                </a:r>
                <a:r>
                  <a:rPr lang="en-US" altLang="ko-KR" sz="2100" b="1" spc="-172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-윤고딕340"/>
                    <a:ea typeface="-윤고딕340"/>
                  </a:rPr>
                  <a:t> Week 1</a:t>
                </a:r>
              </a:p>
            </p:txBody>
          </p:sp>
        </p:grpSp>
        <p:grpSp>
          <p:nvGrpSpPr>
            <p:cNvPr id="41" name="그룹 40"/>
            <p:cNvGrpSpPr/>
            <p:nvPr/>
          </p:nvGrpSpPr>
          <p:grpSpPr>
            <a:xfrm>
              <a:off x="4860036" y="2771775"/>
              <a:ext cx="3744468" cy="737997"/>
              <a:chOff x="4788027" y="1633347"/>
              <a:chExt cx="3744468" cy="737997"/>
            </a:xfrm>
          </p:grpSpPr>
          <p:sp>
            <p:nvSpPr>
              <p:cNvPr id="42" name="TextBox 27"/>
              <p:cNvSpPr txBox="1"/>
              <p:nvPr/>
            </p:nvSpPr>
            <p:spPr>
              <a:xfrm>
                <a:off x="4880460" y="1995297"/>
                <a:ext cx="3652035" cy="376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70000"/>
                  </a:lnSpc>
                  <a:defRPr lang="ko-KR" altLang="en-US"/>
                </a:pPr>
                <a:r>
                  <a:rPr lang="ko-KR" altLang="en-US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프로젝트 구축 및 환경세팅</a:t>
                </a:r>
                <a:r>
                  <a:rPr lang="en-US" altLang="ko-KR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, UI</a:t>
                </a:r>
                <a:r>
                  <a:rPr lang="ko-KR" altLang="en-US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구현</a:t>
                </a:r>
              </a:p>
            </p:txBody>
          </p:sp>
          <p:sp>
            <p:nvSpPr>
              <p:cNvPr id="43" name="TextBox 33"/>
              <p:cNvSpPr txBox="1"/>
              <p:nvPr/>
            </p:nvSpPr>
            <p:spPr>
              <a:xfrm>
                <a:off x="4788027" y="1633347"/>
                <a:ext cx="1584198" cy="415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 lang="ko-KR" altLang="en-US"/>
                </a:pPr>
                <a:r>
                  <a:rPr lang="ko-KR" altLang="en-US" sz="1700" b="1" spc="-14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-윤고딕340"/>
                    <a:ea typeface="-윤고딕340"/>
                  </a:rPr>
                  <a:t>▶</a:t>
                </a:r>
                <a:r>
                  <a:rPr lang="en-US" altLang="ko-KR" sz="2100" b="1" spc="-172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-윤고딕340"/>
                    <a:ea typeface="-윤고딕340"/>
                  </a:rPr>
                  <a:t> Week 2</a:t>
                </a:r>
              </a:p>
            </p:txBody>
          </p:sp>
        </p:grpSp>
        <p:grpSp>
          <p:nvGrpSpPr>
            <p:cNvPr id="44" name="그룹 43"/>
            <p:cNvGrpSpPr/>
            <p:nvPr/>
          </p:nvGrpSpPr>
          <p:grpSpPr>
            <a:xfrm>
              <a:off x="4860036" y="3562350"/>
              <a:ext cx="3744468" cy="736854"/>
              <a:chOff x="4788027" y="1633347"/>
              <a:chExt cx="3744468" cy="736854"/>
            </a:xfrm>
          </p:grpSpPr>
          <p:sp>
            <p:nvSpPr>
              <p:cNvPr id="45" name="TextBox 27"/>
              <p:cNvSpPr txBox="1"/>
              <p:nvPr/>
            </p:nvSpPr>
            <p:spPr>
              <a:xfrm>
                <a:off x="4880460" y="1995297"/>
                <a:ext cx="3652035" cy="3749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70000"/>
                  </a:lnSpc>
                  <a:defRPr lang="ko-KR" altLang="en-US"/>
                </a:pPr>
                <a:r>
                  <a:rPr lang="ko-KR" altLang="en-US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웹사이트 </a:t>
                </a:r>
                <a:r>
                  <a:rPr lang="en-US" altLang="ko-KR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UI </a:t>
                </a:r>
                <a:r>
                  <a:rPr lang="ko-KR" altLang="en-US" sz="1900" b="1" spc="-156">
                    <a:solidFill>
                      <a:schemeClr val="tx1"/>
                    </a:solidFill>
                    <a:latin typeface="-윤고딕320"/>
                    <a:ea typeface="-윤고딕320"/>
                  </a:rPr>
                  <a:t>및 기능개발</a:t>
                </a:r>
              </a:p>
            </p:txBody>
          </p:sp>
          <p:sp>
            <p:nvSpPr>
              <p:cNvPr id="46" name="TextBox 33"/>
              <p:cNvSpPr txBox="1"/>
              <p:nvPr/>
            </p:nvSpPr>
            <p:spPr>
              <a:xfrm>
                <a:off x="4788027" y="1633347"/>
                <a:ext cx="1584198" cy="415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 lang="ko-KR" altLang="en-US"/>
                </a:pPr>
                <a:r>
                  <a:rPr lang="ko-KR" altLang="en-US" sz="1700" b="1" spc="-14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-윤고딕340"/>
                    <a:ea typeface="-윤고딕340"/>
                  </a:rPr>
                  <a:t>▶</a:t>
                </a:r>
                <a:r>
                  <a:rPr lang="en-US" altLang="ko-KR" sz="2100" b="1" spc="-172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-윤고딕340"/>
                    <a:ea typeface="-윤고딕340"/>
                  </a:rPr>
                  <a:t> Week 3</a:t>
                </a:r>
              </a:p>
            </p:txBody>
          </p:sp>
        </p:grpSp>
        <p:grpSp>
          <p:nvGrpSpPr>
            <p:cNvPr id="47" name="그룹 46"/>
            <p:cNvGrpSpPr/>
            <p:nvPr/>
          </p:nvGrpSpPr>
          <p:grpSpPr>
            <a:xfrm>
              <a:off x="4880460" y="4331589"/>
              <a:ext cx="3775629" cy="758190"/>
              <a:chOff x="4788027" y="1633347"/>
              <a:chExt cx="3775629" cy="758190"/>
            </a:xfrm>
          </p:grpSpPr>
          <p:sp>
            <p:nvSpPr>
              <p:cNvPr id="48" name="TextBox 27"/>
              <p:cNvSpPr txBox="1"/>
              <p:nvPr/>
            </p:nvSpPr>
            <p:spPr>
              <a:xfrm>
                <a:off x="4911621" y="1995297"/>
                <a:ext cx="3652035" cy="3962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70000"/>
                  </a:lnSpc>
                  <a:defRPr lang="ko-KR" altLang="en-US"/>
                </a:pPr>
                <a:r>
                  <a:rPr lang="ko-KR" altLang="en-US" sz="2000" b="1" spc="-164">
                    <a:solidFill>
                      <a:schemeClr val="tx1"/>
                    </a:solidFill>
                    <a:latin typeface="-윤고딕320"/>
                    <a:ea typeface="-윤고딕320"/>
                  </a:rPr>
                  <a:t>테스트, 문서작성</a:t>
                </a:r>
              </a:p>
            </p:txBody>
          </p:sp>
          <p:sp>
            <p:nvSpPr>
              <p:cNvPr id="49" name="TextBox 33"/>
              <p:cNvSpPr txBox="1"/>
              <p:nvPr/>
            </p:nvSpPr>
            <p:spPr>
              <a:xfrm>
                <a:off x="4788027" y="1633347"/>
                <a:ext cx="1584198" cy="415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 lang="ko-KR" altLang="en-US"/>
                </a:pPr>
                <a:r>
                  <a:rPr lang="ko-KR" altLang="en-US" sz="1700" b="1" spc="-14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-윤고딕340"/>
                    <a:ea typeface="-윤고딕340"/>
                  </a:rPr>
                  <a:t>▶</a:t>
                </a:r>
                <a:r>
                  <a:rPr lang="en-US" altLang="ko-KR" sz="2100" b="1" spc="-172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-윤고딕340"/>
                    <a:ea typeface="-윤고딕340"/>
                  </a:rPr>
                  <a:t> Week 4</a:t>
                </a:r>
              </a:p>
            </p:txBody>
          </p:sp>
        </p:grpSp>
      </p:grpSp>
      <p:sp>
        <p:nvSpPr>
          <p:cNvPr id="51" name="TextBox 50"/>
          <p:cNvSpPr txBox="1"/>
          <p:nvPr/>
        </p:nvSpPr>
        <p:spPr>
          <a:xfrm>
            <a:off x="2124000" y="720000"/>
            <a:ext cx="6192000" cy="34861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프로젝트 진행 플랜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4000" y="720000"/>
            <a:ext cx="6192000" cy="34861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테이블 설계도(</a:t>
            </a:r>
            <a:r>
              <a:rPr lang="en-US" altLang="ko-KR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ERD)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496" y="1212633"/>
            <a:ext cx="8137017" cy="4309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51A7-68B1-6F12-47EC-975DDE65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724F4A-BCB5-3EF0-74D9-876942686B3D}"/>
              </a:ext>
            </a:extLst>
          </p:cNvPr>
          <p:cNvSpPr txBox="1"/>
          <p:nvPr/>
        </p:nvSpPr>
        <p:spPr>
          <a:xfrm>
            <a:off x="2124000" y="720000"/>
            <a:ext cx="6192000" cy="35394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 dirty="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시연 스크린</a:t>
            </a:r>
            <a:endParaRPr lang="en-US" altLang="ko-KR" sz="1700" dirty="0">
              <a:solidFill>
                <a:schemeClr val="tx1">
                  <a:lumMod val="80000"/>
                  <a:lumOff val="20000"/>
                </a:schemeClr>
              </a:solidFill>
              <a:latin typeface="-윤고딕340"/>
              <a:ea typeface="-윤고딕34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B8E33C7-EB7B-82E3-BAC5-747BA0EE2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0" y="1466410"/>
            <a:ext cx="4205530" cy="38656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E4EE495-6543-5A8D-7508-9C95D418D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45" y="1201270"/>
            <a:ext cx="4174843" cy="413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6163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20FF-84C2-FB7F-C715-BCB0A684B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3749A-C8F1-295E-074A-A3AD8C7D42BE}"/>
              </a:ext>
            </a:extLst>
          </p:cNvPr>
          <p:cNvSpPr txBox="1"/>
          <p:nvPr/>
        </p:nvSpPr>
        <p:spPr>
          <a:xfrm>
            <a:off x="2124000" y="720000"/>
            <a:ext cx="6192000" cy="35394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 dirty="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시연 스크린</a:t>
            </a:r>
            <a:endParaRPr lang="en-US" altLang="ko-KR" sz="1700" dirty="0">
              <a:solidFill>
                <a:schemeClr val="tx1">
                  <a:lumMod val="80000"/>
                  <a:lumOff val="20000"/>
                </a:schemeClr>
              </a:solidFill>
              <a:latin typeface="-윤고딕340"/>
              <a:ea typeface="-윤고딕34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A44B63-E5C0-C424-1B02-6CCE34638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287" y="1345291"/>
            <a:ext cx="3894284" cy="38885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9D2DAD-6FC3-FB04-79E3-CC170680D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50" y="1345290"/>
            <a:ext cx="4170836" cy="388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4092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27D4-15B1-8208-9120-DFF4B62A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47FCD2-5CA7-F65B-1B7D-CAA59F86859F}"/>
              </a:ext>
            </a:extLst>
          </p:cNvPr>
          <p:cNvSpPr txBox="1"/>
          <p:nvPr/>
        </p:nvSpPr>
        <p:spPr>
          <a:xfrm>
            <a:off x="2124000" y="720000"/>
            <a:ext cx="6192000" cy="35394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 dirty="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시연 스크린</a:t>
            </a:r>
            <a:endParaRPr lang="en-US" altLang="ko-KR" sz="1700" dirty="0">
              <a:solidFill>
                <a:schemeClr val="tx1">
                  <a:lumMod val="80000"/>
                  <a:lumOff val="20000"/>
                </a:schemeClr>
              </a:solidFill>
              <a:latin typeface="-윤고딕340"/>
              <a:ea typeface="-윤고딕34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389666-74AA-46CA-3EE3-55B5DA43A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50" y="1345290"/>
            <a:ext cx="4104696" cy="3960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A765DDB-F69C-C24C-F465-64DCF1D4B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146" y="1345290"/>
            <a:ext cx="3845451" cy="396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04807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3C12-276E-69B9-6850-37E91C18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208F72-7584-F62A-D4E3-95A3A139350F}"/>
              </a:ext>
            </a:extLst>
          </p:cNvPr>
          <p:cNvSpPr txBox="1"/>
          <p:nvPr/>
        </p:nvSpPr>
        <p:spPr>
          <a:xfrm>
            <a:off x="2124000" y="720000"/>
            <a:ext cx="6192000" cy="35394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 dirty="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시연 스크린</a:t>
            </a:r>
            <a:endParaRPr lang="en-US" altLang="ko-KR" sz="1700" dirty="0">
              <a:solidFill>
                <a:schemeClr val="tx1">
                  <a:lumMod val="80000"/>
                  <a:lumOff val="20000"/>
                </a:schemeClr>
              </a:solidFill>
              <a:latin typeface="-윤고딕340"/>
              <a:ea typeface="-윤고딕34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1F51F78-045F-26B2-E421-A7CA0F110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50" y="1347057"/>
            <a:ext cx="3672510" cy="37805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0955A50-F00E-7AD6-EFEB-5FEF299C5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0" y="1347056"/>
            <a:ext cx="3528490" cy="37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7188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1B23C-B9D2-CD54-86FC-DAC5010C4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E572F2-E4D3-3655-ACF5-186B7D7FD3E4}"/>
              </a:ext>
            </a:extLst>
          </p:cNvPr>
          <p:cNvSpPr txBox="1"/>
          <p:nvPr/>
        </p:nvSpPr>
        <p:spPr>
          <a:xfrm>
            <a:off x="2124000" y="720000"/>
            <a:ext cx="6192000" cy="35394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 dirty="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시연 스크린</a:t>
            </a:r>
            <a:endParaRPr lang="en-US" altLang="ko-KR" sz="1700" dirty="0">
              <a:solidFill>
                <a:schemeClr val="tx1">
                  <a:lumMod val="80000"/>
                  <a:lumOff val="20000"/>
                </a:schemeClr>
              </a:solidFill>
              <a:latin typeface="-윤고딕340"/>
              <a:ea typeface="-윤고딕34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B43B27-EA19-3C5B-EA8C-62D501392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850" y="1417300"/>
            <a:ext cx="4029150" cy="34564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FA18318-4F7B-E857-7543-192AC6D33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58" y="1417300"/>
            <a:ext cx="3594082" cy="345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8522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7FA21-FD0F-EEF1-FB71-CB229DDB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91586-D247-A5A9-D87E-C23421AB3A5F}"/>
              </a:ext>
            </a:extLst>
          </p:cNvPr>
          <p:cNvSpPr txBox="1"/>
          <p:nvPr/>
        </p:nvSpPr>
        <p:spPr>
          <a:xfrm>
            <a:off x="2124000" y="720000"/>
            <a:ext cx="6192000" cy="35394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 dirty="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시연 스크린</a:t>
            </a:r>
            <a:endParaRPr lang="en-US" altLang="ko-KR" sz="1700" dirty="0">
              <a:solidFill>
                <a:schemeClr val="tx1">
                  <a:lumMod val="80000"/>
                  <a:lumOff val="20000"/>
                </a:schemeClr>
              </a:solidFill>
              <a:latin typeface="-윤고딕340"/>
              <a:ea typeface="-윤고딕34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2CF33D-5128-279C-E1FE-571558B8A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481" y="1345290"/>
            <a:ext cx="3744519" cy="39704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1A366B-C2E4-6558-D25E-4FB424B9E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85" y="1345290"/>
            <a:ext cx="3744519" cy="397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5802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모서리가 접힌 도형 7"/>
          <p:cNvSpPr/>
          <p:nvPr/>
        </p:nvSpPr>
        <p:spPr>
          <a:xfrm>
            <a:off x="756000" y="1417320"/>
            <a:ext cx="7704486" cy="3961080"/>
          </a:xfrm>
          <a:prstGeom prst="foldedCorner">
            <a:avLst>
              <a:gd name="adj" fmla="val 16667"/>
            </a:avLst>
          </a:prstGeom>
          <a:blipFill rotWithShape="1">
            <a:blip r:embed="rId2">
              <a:alphaModFix amt="32000"/>
              <a:lum/>
            </a:blip>
            <a:tile tx="0" ty="0" sx="100000" sy="100000" flip="none" algn="tl"/>
          </a:blipFill>
          <a:ln algn="ctr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64893" y="1777365"/>
            <a:ext cx="657550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dirty="0">
                <a:latin typeface="-윤고딕340"/>
                <a:ea typeface="-윤고딕340"/>
              </a:rPr>
              <a:t>◦</a:t>
            </a:r>
            <a:r>
              <a:rPr lang="ko-KR" altLang="en-US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DB안전성을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높이기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위해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백업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server구축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</a:p>
          <a:p>
            <a:pPr>
              <a:defRPr lang="ko-KR" altLang="en-US"/>
            </a:pPr>
            <a:endParaRPr lang="en-US" altLang="ko-KR" sz="600" dirty="0">
              <a:latin typeface="-윤고딕340"/>
              <a:ea typeface="-윤고딕340"/>
            </a:endParaRPr>
          </a:p>
          <a:p>
            <a:pPr>
              <a:defRPr lang="ko-KR" altLang="en-US"/>
            </a:pPr>
            <a:r>
              <a:rPr lang="en-US" altLang="ko-KR" dirty="0">
                <a:latin typeface="-윤고딕340"/>
                <a:ea typeface="-윤고딕340"/>
              </a:rPr>
              <a:t>◦</a:t>
            </a:r>
            <a:r>
              <a:rPr lang="ko-KR" altLang="en-US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프레임워크</a:t>
            </a:r>
            <a:r>
              <a:rPr lang="en-US" altLang="ko-KR" dirty="0">
                <a:latin typeface="-윤고딕340"/>
                <a:ea typeface="-윤고딕340"/>
              </a:rPr>
              <a:t>→</a:t>
            </a:r>
            <a:r>
              <a:rPr lang="ko-KR" altLang="en-US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Spring으로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전환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ko-KR" altLang="en-US" dirty="0">
                <a:latin typeface="-윤고딕340"/>
                <a:ea typeface="-윤고딕340"/>
              </a:rPr>
              <a:t>필요</a:t>
            </a:r>
          </a:p>
          <a:p>
            <a:pPr>
              <a:defRPr lang="ko-KR" altLang="en-US"/>
            </a:pPr>
            <a:endParaRPr lang="ko-KR" altLang="en-US" sz="500" dirty="0">
              <a:latin typeface="-윤고딕340"/>
              <a:ea typeface="-윤고딕340"/>
            </a:endParaRPr>
          </a:p>
          <a:p>
            <a:pPr>
              <a:defRPr lang="ko-KR" altLang="en-US"/>
            </a:pPr>
            <a:r>
              <a:rPr lang="en-US" altLang="ko-KR" dirty="0">
                <a:latin typeface="-윤고딕340"/>
                <a:ea typeface="-윤고딕340"/>
              </a:rPr>
              <a:t>◦</a:t>
            </a:r>
            <a:r>
              <a:rPr lang="ko-KR" altLang="en-US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회원가입</a:t>
            </a:r>
            <a:r>
              <a:rPr lang="en-US" altLang="ko-KR" dirty="0">
                <a:latin typeface="-윤고딕340"/>
                <a:ea typeface="-윤고딕340"/>
              </a:rPr>
              <a:t> 시 </a:t>
            </a:r>
            <a:r>
              <a:rPr lang="en-US" altLang="ko-KR" dirty="0" err="1">
                <a:latin typeface="-윤고딕340"/>
                <a:ea typeface="-윤고딕340"/>
              </a:rPr>
              <a:t>이메일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인증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ko-KR" altLang="en-US" dirty="0">
                <a:latin typeface="-윤고딕340"/>
                <a:ea typeface="-윤고딕340"/>
              </a:rPr>
              <a:t>기능 추가 필요</a:t>
            </a:r>
          </a:p>
          <a:p>
            <a:pPr>
              <a:defRPr lang="ko-KR" altLang="en-US"/>
            </a:pPr>
            <a:endParaRPr lang="ko-KR" altLang="en-US" sz="600" dirty="0">
              <a:latin typeface="-윤고딕340"/>
              <a:ea typeface="-윤고딕340"/>
            </a:endParaRPr>
          </a:p>
          <a:p>
            <a:pPr>
              <a:defRPr lang="ko-KR" altLang="en-US"/>
            </a:pPr>
            <a:r>
              <a:rPr lang="en-US" altLang="ko-KR" dirty="0">
                <a:latin typeface="-윤고딕340"/>
                <a:ea typeface="-윤고딕340"/>
              </a:rPr>
              <a:t>◦</a:t>
            </a:r>
            <a:r>
              <a:rPr lang="ko-KR" altLang="en-US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이메일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인증을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통한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비밀번호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재설정</a:t>
            </a:r>
            <a:r>
              <a:rPr lang="ko-KR" altLang="en-US" dirty="0">
                <a:latin typeface="-윤고딕340"/>
                <a:ea typeface="-윤고딕340"/>
              </a:rPr>
              <a:t>필요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</a:p>
          <a:p>
            <a:pPr>
              <a:defRPr lang="ko-KR" altLang="en-US"/>
            </a:pPr>
            <a:endParaRPr lang="en-US" altLang="ko-KR" sz="600" dirty="0">
              <a:latin typeface="-윤고딕340"/>
              <a:ea typeface="-윤고딕340"/>
            </a:endParaRPr>
          </a:p>
          <a:p>
            <a:pPr>
              <a:defRPr lang="ko-KR" altLang="en-US"/>
            </a:pPr>
            <a:r>
              <a:rPr lang="en-US" altLang="ko-KR" dirty="0">
                <a:latin typeface="-윤고딕340"/>
                <a:ea typeface="-윤고딕340"/>
              </a:rPr>
              <a:t>◦</a:t>
            </a:r>
            <a:r>
              <a:rPr lang="ko-KR" altLang="en-US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다른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사이트의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공고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추가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ko-KR" altLang="en-US" dirty="0">
                <a:latin typeface="-윤고딕340"/>
                <a:ea typeface="-윤고딕340"/>
              </a:rPr>
              <a:t>필요</a:t>
            </a:r>
            <a:r>
              <a:rPr lang="en-US" altLang="ko-KR" dirty="0">
                <a:latin typeface="-윤고딕340"/>
                <a:ea typeface="-윤고딕340"/>
              </a:rPr>
              <a:t>→</a:t>
            </a:r>
            <a:r>
              <a:rPr lang="ko-KR" altLang="en-US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마이나비</a:t>
            </a:r>
            <a:r>
              <a:rPr lang="en-US" altLang="ko-KR" dirty="0">
                <a:latin typeface="-윤고딕340"/>
                <a:ea typeface="-윤고딕340"/>
              </a:rPr>
              <a:t> 등</a:t>
            </a:r>
          </a:p>
          <a:p>
            <a:pPr>
              <a:defRPr lang="ko-KR" altLang="en-US"/>
            </a:pPr>
            <a:endParaRPr lang="ko-KR" altLang="en-US" sz="500" dirty="0">
              <a:latin typeface="-윤고딕340"/>
              <a:ea typeface="-윤고딕340"/>
            </a:endParaRPr>
          </a:p>
          <a:p>
            <a:pPr>
              <a:defRPr lang="ko-KR" altLang="en-US"/>
            </a:pPr>
            <a:r>
              <a:rPr lang="en-US" altLang="ko-KR" dirty="0">
                <a:latin typeface="-윤고딕340"/>
                <a:ea typeface="-윤고딕340"/>
              </a:rPr>
              <a:t>◦</a:t>
            </a:r>
            <a:r>
              <a:rPr lang="ko-KR" altLang="en-US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기업에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대한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사용자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리뷰</a:t>
            </a:r>
            <a:endParaRPr lang="en-US" altLang="ko-KR" dirty="0">
              <a:latin typeface="-윤고딕340"/>
              <a:ea typeface="-윤고딕340"/>
            </a:endParaRPr>
          </a:p>
          <a:p>
            <a:pPr>
              <a:defRPr lang="ko-KR" altLang="en-US"/>
            </a:pPr>
            <a:endParaRPr lang="en-US" altLang="ko-KR" sz="600" dirty="0">
              <a:latin typeface="-윤고딕340"/>
              <a:ea typeface="-윤고딕340"/>
            </a:endParaRPr>
          </a:p>
          <a:p>
            <a:pPr>
              <a:defRPr lang="ko-KR" altLang="en-US"/>
            </a:pPr>
            <a:r>
              <a:rPr lang="en-US" altLang="ko-KR" dirty="0">
                <a:latin typeface="-윤고딕340"/>
                <a:ea typeface="-윤고딕340"/>
              </a:rPr>
              <a:t>◦</a:t>
            </a:r>
            <a:r>
              <a:rPr lang="ko-KR" altLang="en-US" dirty="0">
                <a:latin typeface="-윤고딕340"/>
                <a:ea typeface="-윤고딕340"/>
              </a:rPr>
              <a:t> </a:t>
            </a:r>
            <a:r>
              <a:rPr lang="en-US" altLang="ko-KR" dirty="0">
                <a:latin typeface="-윤고딕340"/>
                <a:ea typeface="-윤고딕340"/>
              </a:rPr>
              <a:t>D</a:t>
            </a:r>
            <a:r>
              <a:rPr lang="ko-KR" altLang="en-US" dirty="0">
                <a:latin typeface="-윤고딕340"/>
                <a:ea typeface="-윤고딕340"/>
              </a:rPr>
              <a:t>-</a:t>
            </a:r>
            <a:r>
              <a:rPr lang="en-US" altLang="ko-KR" dirty="0">
                <a:latin typeface="-윤고딕340"/>
                <a:ea typeface="-윤고딕340"/>
              </a:rPr>
              <a:t>day </a:t>
            </a:r>
            <a:r>
              <a:rPr lang="en-US" altLang="ko-KR" dirty="0" err="1">
                <a:latin typeface="-윤고딕340"/>
                <a:ea typeface="-윤고딕340"/>
              </a:rPr>
              <a:t>알림</a:t>
            </a:r>
            <a:r>
              <a:rPr lang="en-US" altLang="ko-KR" dirty="0">
                <a:latin typeface="-윤고딕340"/>
                <a:ea typeface="-윤고딕340"/>
              </a:rPr>
              <a:t>(</a:t>
            </a:r>
            <a:r>
              <a:rPr lang="en-US" altLang="ko-KR" dirty="0" err="1">
                <a:latin typeface="-윤고딕340"/>
                <a:ea typeface="-윤고딕340"/>
              </a:rPr>
              <a:t>이메일로</a:t>
            </a:r>
            <a:r>
              <a:rPr lang="en-US" altLang="ko-KR" dirty="0">
                <a:latin typeface="-윤고딕340"/>
                <a:ea typeface="-윤고딕340"/>
              </a:rPr>
              <a:t>)</a:t>
            </a:r>
            <a:r>
              <a:rPr lang="ko-KR" altLang="en-US" dirty="0">
                <a:latin typeface="-윤고딕340"/>
                <a:ea typeface="-윤고딕340"/>
              </a:rPr>
              <a:t> 기능 </a:t>
            </a:r>
          </a:p>
          <a:p>
            <a:pPr>
              <a:defRPr lang="ko-KR" altLang="en-US"/>
            </a:pPr>
            <a:endParaRPr lang="ko-KR" altLang="en-US" sz="600" dirty="0">
              <a:latin typeface="-윤고딕340"/>
              <a:ea typeface="-윤고딕340"/>
            </a:endParaRPr>
          </a:p>
          <a:p>
            <a:pPr>
              <a:defRPr lang="ko-KR" altLang="en-US"/>
            </a:pPr>
            <a:r>
              <a:rPr lang="en-US" altLang="ko-KR" dirty="0">
                <a:latin typeface="-윤고딕340"/>
                <a:ea typeface="-윤고딕340"/>
              </a:rPr>
              <a:t>◦</a:t>
            </a:r>
            <a:r>
              <a:rPr lang="ko-KR" altLang="en-US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박람회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소개</a:t>
            </a:r>
            <a:r>
              <a:rPr lang="en-US" altLang="ko-KR" dirty="0">
                <a:latin typeface="-윤고딕340"/>
                <a:ea typeface="-윤고딕340"/>
              </a:rPr>
              <a:t> 및 </a:t>
            </a:r>
            <a:r>
              <a:rPr lang="en-US" altLang="ko-KR" dirty="0" err="1">
                <a:latin typeface="-윤고딕340"/>
                <a:ea typeface="-윤고딕340"/>
              </a:rPr>
              <a:t>알림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이메일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ko-KR" altLang="en-US" dirty="0">
                <a:latin typeface="-윤고딕340"/>
                <a:ea typeface="-윤고딕340"/>
              </a:rPr>
              <a:t>전송 기능 </a:t>
            </a:r>
          </a:p>
          <a:p>
            <a:pPr>
              <a:defRPr lang="ko-KR" altLang="en-US"/>
            </a:pPr>
            <a:endParaRPr lang="ko-KR" altLang="en-US" sz="600" dirty="0">
              <a:latin typeface="-윤고딕340"/>
              <a:ea typeface="-윤고딕340"/>
            </a:endParaRPr>
          </a:p>
          <a:p>
            <a:pPr>
              <a:defRPr lang="ko-KR" altLang="en-US"/>
            </a:pPr>
            <a:r>
              <a:rPr lang="en-US" altLang="ko-KR" dirty="0">
                <a:latin typeface="-윤고딕340"/>
                <a:ea typeface="-윤고딕340"/>
              </a:rPr>
              <a:t>◦</a:t>
            </a:r>
            <a:r>
              <a:rPr lang="ko-KR" altLang="en-US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캘린더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  <a:r>
              <a:rPr lang="en-US" altLang="ko-KR" dirty="0" err="1">
                <a:latin typeface="-윤고딕340"/>
                <a:ea typeface="-윤고딕340"/>
              </a:rPr>
              <a:t>스타일</a:t>
            </a:r>
            <a:r>
              <a:rPr lang="en-US" altLang="ko-KR" dirty="0">
                <a:latin typeface="-윤고딕340"/>
                <a:ea typeface="-윤고딕340"/>
              </a:rPr>
              <a:t> </a:t>
            </a:r>
          </a:p>
          <a:p>
            <a:pPr>
              <a:defRPr lang="ko-KR" altLang="en-US"/>
            </a:pPr>
            <a:endParaRPr lang="en-US" altLang="ko-KR" sz="600" dirty="0">
              <a:latin typeface="-윤고딕340"/>
              <a:ea typeface="-윤고딕340"/>
            </a:endParaRPr>
          </a:p>
          <a:p>
            <a:pPr>
              <a:defRPr lang="ko-KR" altLang="en-US"/>
            </a:pPr>
            <a:endParaRPr lang="en-US" altLang="ko-KR" sz="600" dirty="0">
              <a:latin typeface="-윤고딕340"/>
              <a:ea typeface="-윤고딕34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24000" y="720000"/>
            <a:ext cx="6192000" cy="34861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defRPr lang="ko-KR" altLang="en-US"/>
            </a:pPr>
            <a:r>
              <a:rPr lang="ko-KR" altLang="en-US" sz="1700">
                <a:solidFill>
                  <a:schemeClr val="tx1">
                    <a:lumMod val="80000"/>
                    <a:lumOff val="20000"/>
                  </a:schemeClr>
                </a:solidFill>
                <a:latin typeface="-윤고딕340"/>
                <a:ea typeface="-윤고딕340"/>
              </a:rPr>
              <a:t>개선 사항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63491" y="4031299"/>
            <a:ext cx="1264940" cy="12649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547580" y="1220775"/>
            <a:ext cx="7056882" cy="1183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7200" dirty="0">
                <a:solidFill>
                  <a:schemeClr val="bg1">
                    <a:lumMod val="30000"/>
                  </a:schemeClr>
                </a:solidFill>
                <a:latin typeface="휴먼둥근헤드라인"/>
                <a:ea typeface="휴먼둥근헤드라인"/>
              </a:rPr>
              <a:t>Thank</a:t>
            </a:r>
            <a:r>
              <a:rPr lang="en-US" altLang="ko-KR" sz="5100" dirty="0">
                <a:solidFill>
                  <a:schemeClr val="bg1">
                    <a:lumMod val="30000"/>
                  </a:schemeClr>
                </a:solidFill>
                <a:latin typeface="휴먼둥근헤드라인"/>
                <a:ea typeface="휴먼둥근헤드라인"/>
              </a:rPr>
              <a:t> </a:t>
            </a:r>
            <a:r>
              <a:rPr lang="en-US" altLang="ko-KR" sz="7200" dirty="0">
                <a:solidFill>
                  <a:schemeClr val="bg1">
                    <a:lumMod val="30000"/>
                  </a:schemeClr>
                </a:solidFill>
                <a:latin typeface="휴먼둥근헤드라인"/>
                <a:ea typeface="휴먼둥근헤드라인"/>
              </a:rPr>
              <a:t>You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9AB32F-4007-E933-A113-A0E197CFB3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95954" y="3145540"/>
            <a:ext cx="1949896" cy="57608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"/>
      </a:majorFont>
      <a:minorFont>
        <a:latin typeface="함초롬돋움"/>
        <a:ea typeface="함초롬돋움"/>
        <a:cs typeface="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"/>
      </a:majorFont>
      <a:minorFont>
        <a:latin typeface="함초롬돋움"/>
        <a:ea typeface="함초롬돋움"/>
        <a:cs typeface="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"/>
      </a:majorFont>
      <a:minorFont>
        <a:latin typeface="함초롬돋움"/>
        <a:ea typeface="함초롬돋움"/>
        <a:cs typeface="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376</Words>
  <Application>Microsoft Office PowerPoint</Application>
  <PresentationFormat>화면 슬라이드 쇼(16:10)</PresentationFormat>
  <Paragraphs>111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-윤고딕340</vt:lpstr>
      <vt:lpstr>배달의민족 도현</vt:lpstr>
      <vt:lpstr>-윤고딕320</vt:lpstr>
      <vt:lpstr>함초롬돋움</vt:lpstr>
      <vt:lpstr>-윤고딕330</vt:lpstr>
      <vt:lpstr>휴먼둥근헤드라인</vt:lpstr>
      <vt:lpstr>-윤고딕350</vt:lpstr>
      <vt:lpstr>Arial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yujin</dc:creator>
  <cp:lastModifiedBy>영탁 정</cp:lastModifiedBy>
  <cp:revision>118</cp:revision>
  <dcterms:created xsi:type="dcterms:W3CDTF">2024-10-31T00:40:00Z</dcterms:created>
  <dcterms:modified xsi:type="dcterms:W3CDTF">2026-04-14T09:42:53Z</dcterms:modified>
</cp:coreProperties>
</file>